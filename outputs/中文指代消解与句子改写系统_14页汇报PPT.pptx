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60" y="1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样本数</c:v>
          </c:tx>
          <c:spPr>
            <a:solidFill>
              <a:srgbClr val="2563EB"/>
            </a:solidFill>
          </c:spPr>
          <c:invertIfNegative val="1"/>
          <c:dLbls>
            <c:delete val="1"/>
          </c:dLbls>
          <c:cat>
            <c:strLit>
              <c:ptCount val="5"/>
              <c:pt idx="0">
                <c:v>samples</c:v>
              </c:pt>
              <c:pt idx="1">
                <c:v>dev</c:v>
              </c:pt>
              <c:pt idx="2">
                <c:v>test</c:v>
              </c:pt>
              <c:pt idx="3">
                <c:v>real</c:v>
              </c:pt>
              <c:pt idx="4">
                <c:v>train</c:v>
              </c:pt>
            </c:strLit>
          </c:cat>
          <c:val>
            <c:numLit>
              <c:formatCode>General</c:formatCode>
              <c:ptCount val="5"/>
              <c:pt idx="0">
                <c:v>120</c:v>
              </c:pt>
              <c:pt idx="1">
                <c:v>50</c:v>
              </c:pt>
              <c:pt idx="2">
                <c:v>60</c:v>
              </c:pt>
              <c:pt idx="3">
                <c:v>40</c:v>
              </c:pt>
              <c:pt idx="4">
                <c:v>85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27D1-4B58-95BA-09EF44FC751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w="9525">
              <a:solidFill>
                <a:srgbClr val="DBEAFE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F1(%)</c:v>
          </c:tx>
          <c:spPr>
            <a:solidFill>
              <a:srgbClr val="16A34A"/>
            </a:solidFill>
          </c:spPr>
          <c:invertIfNegative val="1"/>
          <c:dLbls>
            <c:delete val="1"/>
          </c:dLbls>
          <c:cat>
            <c:strLit>
              <c:ptCount val="2"/>
              <c:pt idx="0">
                <c:v>接入前</c:v>
              </c:pt>
              <c:pt idx="1">
                <c:v>组织指代增强后</c:v>
              </c:pt>
            </c:strLit>
          </c:cat>
          <c:val>
            <c:numLit>
              <c:formatCode>General</c:formatCode>
              <c:ptCount val="2"/>
              <c:pt idx="0">
                <c:v>79.63</c:v>
              </c:pt>
              <c:pt idx="1">
                <c:v>87.65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4D61-4E58-8BA2-F5F9B7E2B34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00"/>
        </c:scaling>
        <c:delete val="0"/>
        <c:axPos val="l"/>
        <c:majorGridlines>
          <c:spPr>
            <a:ln w="9525">
              <a:solidFill>
                <a:srgbClr val="DCFCE7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错误样本</c:v>
          </c:tx>
          <c:spPr>
            <a:solidFill>
              <a:srgbClr val="2563EB"/>
            </a:solidFill>
          </c:spPr>
          <c:invertIfNegative val="1"/>
          <c:dLbls>
            <c:delete val="1"/>
          </c:dLbls>
          <c:cat>
            <c:strLit>
              <c:ptCount val="7"/>
              <c:pt idx="0">
                <c:v>它/它们</c:v>
              </c:pt>
              <c:pt idx="1">
                <c:v>多人物</c:v>
              </c:pt>
              <c:pt idx="2">
                <c:v>组织指代</c:v>
              </c:pt>
              <c:pt idx="3">
                <c:v>过度预测</c:v>
              </c:pt>
              <c:pt idx="4">
                <c:v>称谓</c:v>
              </c:pt>
              <c:pt idx="5">
                <c:v>其他</c:v>
              </c:pt>
              <c:pt idx="6">
                <c:v>我/你</c:v>
              </c:pt>
            </c:strLit>
          </c:cat>
          <c:val>
            <c:numLit>
              <c:formatCode>General</c:formatCode>
              <c:ptCount val="7"/>
              <c:pt idx="0">
                <c:v>6</c:v>
              </c:pt>
              <c:pt idx="1">
                <c:v>4</c:v>
              </c:pt>
              <c:pt idx="2">
                <c:v>4</c:v>
              </c:pt>
              <c:pt idx="3">
                <c:v>2</c:v>
              </c:pt>
              <c:pt idx="4">
                <c:v>2</c:v>
              </c:pt>
              <c:pt idx="5">
                <c:v>2</c:v>
              </c:pt>
              <c:pt idx="6">
                <c:v>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666-4915-BC87-83A6EBD01FA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w="9525">
              <a:solidFill>
                <a:srgbClr val="DBEAFE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7C7FB0E1-BC7C-40FF-ABD2-DD76B47FB404}"/>
              </a:ext>
            </a:extLst>
          </p:cNvPr>
          <p:cNvSpPr>
            <a:spLocks noGrp="1"/>
          </p:cNvSpPr>
          <p:nvPr/>
        </p:nvSpPr>
        <p:spPr>
          <a:xfrm>
            <a:off x="685800" y="1143000"/>
            <a:ext cx="8191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900" b="1">
                <a:solidFill>
                  <a:srgbClr val="0F172A"/>
                </a:solidFill>
              </a:defRPr>
            </a:pPr>
            <a:r>
              <a:rPr sz="3900" b="1">
                <a:solidFill>
                  <a:srgbClr val="0F172A"/>
                </a:solidFill>
              </a:rPr>
              <a:t>中文指代消解与句子改写系统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7C6A38A-C208-4953-B32C-709CCF62602F}"/>
              </a:ext>
            </a:extLst>
          </p:cNvPr>
          <p:cNvSpPr>
            <a:spLocks noGrp="1"/>
          </p:cNvSpPr>
          <p:nvPr/>
        </p:nvSpPr>
        <p:spPr>
          <a:xfrm>
            <a:off x="704850" y="2019300"/>
            <a:ext cx="781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0">
                <a:solidFill>
                  <a:srgbClr val="475569"/>
                </a:solidFill>
              </a:defRPr>
            </a:pPr>
            <a:r>
              <a:rPr sz="1950" b="0">
                <a:solidFill>
                  <a:srgbClr val="475569"/>
                </a:solidFill>
              </a:rPr>
              <a:t>面向中文文本理解与问答场景的可解释 NLP 期末项目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8303CC3-8C1D-4FE4-B14F-D55DA09F7AE4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2857500" cy="16954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3DA5DE0-4540-4CF7-A3E3-AC46B1FF62B1}"/>
              </a:ext>
            </a:extLst>
          </p:cNvPr>
          <p:cNvSpPr>
            <a:spLocks noGrp="1"/>
          </p:cNvSpPr>
          <p:nvPr/>
        </p:nvSpPr>
        <p:spPr>
          <a:xfrm>
            <a:off x="895350" y="3543300"/>
            <a:ext cx="2438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85 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715EE8E-1B1E-4A7E-8541-01A8935FE9B1}"/>
              </a:ext>
            </a:extLst>
          </p:cNvPr>
          <p:cNvSpPr>
            <a:spLocks noGrp="1"/>
          </p:cNvSpPr>
          <p:nvPr/>
        </p:nvSpPr>
        <p:spPr>
          <a:xfrm>
            <a:off x="895350" y="40767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新标注样本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FAE5E87-E4C9-43F5-8651-302AAA824EDC}"/>
              </a:ext>
            </a:extLst>
          </p:cNvPr>
          <p:cNvSpPr>
            <a:spLocks noGrp="1"/>
          </p:cNvSpPr>
          <p:nvPr/>
        </p:nvSpPr>
        <p:spPr>
          <a:xfrm>
            <a:off x="895350" y="443865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接入 train.json，用于规则增强与错误分析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A40FF81B-2BA9-40F7-9892-C5C00FE3FB8A}"/>
              </a:ext>
            </a:extLst>
          </p:cNvPr>
          <p:cNvSpPr>
            <a:spLocks noGrp="1"/>
          </p:cNvSpPr>
          <p:nvPr/>
        </p:nvSpPr>
        <p:spPr>
          <a:xfrm>
            <a:off x="3848100" y="3333750"/>
            <a:ext cx="2857500" cy="16954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312EDC-412B-401E-9332-11DD7AC99D9B}"/>
              </a:ext>
            </a:extLst>
          </p:cNvPr>
          <p:cNvSpPr>
            <a:spLocks noGrp="1"/>
          </p:cNvSpPr>
          <p:nvPr/>
        </p:nvSpPr>
        <p:spPr>
          <a:xfrm>
            <a:off x="4057650" y="3543300"/>
            <a:ext cx="2438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0.8765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F16095C-185A-49EF-9429-E5C7036E4D7F}"/>
              </a:ext>
            </a:extLst>
          </p:cNvPr>
          <p:cNvSpPr>
            <a:spLocks noGrp="1"/>
          </p:cNvSpPr>
          <p:nvPr/>
        </p:nvSpPr>
        <p:spPr>
          <a:xfrm>
            <a:off x="4057650" y="40767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训练集 F1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C3BB755-0C6B-465A-AE4E-25E261ABCAA0}"/>
              </a:ext>
            </a:extLst>
          </p:cNvPr>
          <p:cNvSpPr>
            <a:spLocks noGrp="1"/>
          </p:cNvSpPr>
          <p:nvPr/>
        </p:nvSpPr>
        <p:spPr>
          <a:xfrm>
            <a:off x="4057650" y="443865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组织指代增强后的训练集表现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069C507-862B-466A-8C5B-BDC0D3E72B43}"/>
              </a:ext>
            </a:extLst>
          </p:cNvPr>
          <p:cNvSpPr>
            <a:spLocks noGrp="1"/>
          </p:cNvSpPr>
          <p:nvPr/>
        </p:nvSpPr>
        <p:spPr>
          <a:xfrm>
            <a:off x="7010400" y="3333750"/>
            <a:ext cx="2857500" cy="16954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1FB785D-B477-4154-966C-614B8793FA32}"/>
              </a:ext>
            </a:extLst>
          </p:cNvPr>
          <p:cNvSpPr>
            <a:spLocks noGrp="1"/>
          </p:cNvSpPr>
          <p:nvPr/>
        </p:nvSpPr>
        <p:spPr>
          <a:xfrm>
            <a:off x="7219950" y="3543300"/>
            <a:ext cx="24384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0891B2"/>
                </a:solidFill>
              </a:defRPr>
            </a:pPr>
            <a:r>
              <a:rPr sz="2550" b="1">
                <a:solidFill>
                  <a:srgbClr val="0891B2"/>
                </a:solidFill>
              </a:rPr>
              <a:t>Web Demo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6A1F5CB-2D3E-46EF-96E0-0AD4DA32D5BA}"/>
              </a:ext>
            </a:extLst>
          </p:cNvPr>
          <p:cNvSpPr>
            <a:spLocks noGrp="1"/>
          </p:cNvSpPr>
          <p:nvPr/>
        </p:nvSpPr>
        <p:spPr>
          <a:xfrm>
            <a:off x="7219950" y="40767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展示方式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02BB1A3-25B5-4B8E-8996-5703FD28B5D8}"/>
              </a:ext>
            </a:extLst>
          </p:cNvPr>
          <p:cNvSpPr>
            <a:spLocks noGrp="1"/>
          </p:cNvSpPr>
          <p:nvPr/>
        </p:nvSpPr>
        <p:spPr>
          <a:xfrm>
            <a:off x="7219950" y="4438650"/>
            <a:ext cx="24384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Streamlit + 云服务器部署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77DDD00-D1E4-44F8-B8D7-83E96A9F3FC5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1/14</a:t>
            </a:r>
          </a:p>
        </p:txBody>
      </p:sp>
    </p:spTree>
    <p:extLst>
      <p:ext uri="{BB962C8B-B14F-4D97-AF65-F5344CB8AC3E}">
        <p14:creationId xmlns:p14="http://schemas.microsoft.com/office/powerpoint/2010/main" val="7215243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A23EAC5D-A1DB-4D64-9A7C-A0D979304A68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项目背景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AF8AFDF-8453-4491-8884-7E033CD6CA3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为什么选择指代消解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7E4985-C1EC-43FC-B4FE-62D4EA25115B}"/>
              </a:ext>
            </a:extLst>
          </p:cNvPr>
          <p:cNvSpPr>
            <a:spLocks noGrp="1"/>
          </p:cNvSpPr>
          <p:nvPr/>
        </p:nvSpPr>
        <p:spPr>
          <a:xfrm>
            <a:off x="876300" y="1657350"/>
            <a:ext cx="5143500" cy="2190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334155"/>
                </a:solidFill>
              </a:defRPr>
            </a:pPr>
            <a:r>
              <a:rPr sz="1725" b="0" dirty="0">
                <a:solidFill>
                  <a:srgbClr val="334155"/>
                </a:solidFill>
              </a:rPr>
              <a:t>• </a:t>
            </a:r>
            <a:r>
              <a:rPr sz="1725" b="0" dirty="0" err="1">
                <a:solidFill>
                  <a:srgbClr val="334155"/>
                </a:solidFill>
              </a:rPr>
              <a:t>中文文本经常省略主语，代词指向依赖上下文</a:t>
            </a:r>
            <a:r>
              <a:rPr sz="1725" b="0" dirty="0">
                <a:solidFill>
                  <a:srgbClr val="334155"/>
                </a:solidFill>
              </a:rPr>
              <a:t>。</a:t>
            </a:r>
          </a:p>
          <a:p>
            <a:pPr algn="l">
              <a:defRPr sz="1725" b="0">
                <a:solidFill>
                  <a:srgbClr val="334155"/>
                </a:solidFill>
              </a:defRPr>
            </a:pPr>
            <a:r>
              <a:rPr sz="1725" b="0" dirty="0">
                <a:solidFill>
                  <a:srgbClr val="334155"/>
                </a:solidFill>
              </a:rPr>
              <a:t>• </a:t>
            </a:r>
            <a:r>
              <a:rPr sz="1725" b="0" dirty="0" err="1">
                <a:solidFill>
                  <a:srgbClr val="334155"/>
                </a:solidFill>
              </a:rPr>
              <a:t>在问答、摘要、信息抽取中，代词不清会影响理解</a:t>
            </a:r>
            <a:r>
              <a:rPr sz="1725" b="0" dirty="0">
                <a:solidFill>
                  <a:srgbClr val="334155"/>
                </a:solidFill>
              </a:rPr>
              <a:t>。</a:t>
            </a:r>
          </a:p>
          <a:p>
            <a:pPr algn="l">
              <a:defRPr sz="1725" b="0">
                <a:solidFill>
                  <a:srgbClr val="334155"/>
                </a:solidFill>
              </a:defRPr>
            </a:pPr>
            <a:r>
              <a:rPr sz="1725" b="0" dirty="0">
                <a:solidFill>
                  <a:srgbClr val="334155"/>
                </a:solidFill>
              </a:rPr>
              <a:t>• </a:t>
            </a:r>
            <a:r>
              <a:rPr sz="1725" b="0" dirty="0" err="1">
                <a:solidFill>
                  <a:srgbClr val="334155"/>
                </a:solidFill>
              </a:rPr>
              <a:t>句子改写能把隐含指代显式化</a:t>
            </a:r>
            <a:r>
              <a:rPr sz="1725" b="0" err="1">
                <a:solidFill>
                  <a:srgbClr val="334155"/>
                </a:solidFill>
              </a:rPr>
              <a:t>，</a:t>
            </a:r>
            <a:r>
              <a:rPr sz="1725" b="0">
                <a:solidFill>
                  <a:srgbClr val="334155"/>
                </a:solidFill>
              </a:rPr>
              <a:t>便于展示与评估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48940BFA-32FB-438E-9314-CEE681215A13}"/>
              </a:ext>
            </a:extLst>
          </p:cNvPr>
          <p:cNvSpPr>
            <a:spLocks noGrp="1"/>
          </p:cNvSpPr>
          <p:nvPr/>
        </p:nvSpPr>
        <p:spPr>
          <a:xfrm>
            <a:off x="6762750" y="1543050"/>
            <a:ext cx="4000500" cy="2667000"/>
          </a:xfrm>
          <a:prstGeom prst="roundRect">
            <a:avLst>
              <a:gd name="adj" fmla="val 2857"/>
            </a:avLst>
          </a:prstGeom>
          <a:solidFill>
            <a:srgbClr val="ECFEFF"/>
          </a:solidFill>
          <a:ln w="9525">
            <a:solidFill>
              <a:srgbClr val="67E8F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E15DC01-3C1A-45ED-91F3-5A5B66D59CDC}"/>
              </a:ext>
            </a:extLst>
          </p:cNvPr>
          <p:cNvSpPr>
            <a:spLocks noGrp="1"/>
          </p:cNvSpPr>
          <p:nvPr/>
        </p:nvSpPr>
        <p:spPr>
          <a:xfrm>
            <a:off x="7086600" y="18097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891B2"/>
                </a:solidFill>
              </a:defRPr>
            </a:pPr>
            <a:r>
              <a:rPr sz="1800" b="1">
                <a:solidFill>
                  <a:srgbClr val="0891B2"/>
                </a:solidFill>
              </a:rPr>
              <a:t>例子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0B581A-1E2F-41A4-ABB5-6443D71FC2D6}"/>
              </a:ext>
            </a:extLst>
          </p:cNvPr>
          <p:cNvSpPr>
            <a:spLocks noGrp="1"/>
          </p:cNvSpPr>
          <p:nvPr/>
        </p:nvSpPr>
        <p:spPr>
          <a:xfrm>
            <a:off x="7086600" y="2305050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0">
                <a:solidFill>
                  <a:srgbClr val="0F172A"/>
                </a:solidFill>
              </a:defRPr>
            </a:pPr>
            <a:r>
              <a:rPr sz="1950" b="0">
                <a:solidFill>
                  <a:srgbClr val="0F172A"/>
                </a:solidFill>
              </a:rPr>
              <a:t>马斯克整理了书，</a:t>
            </a:r>
          </a:p>
          <a:p>
            <a:pPr algn="l">
              <a:defRPr sz="1950" b="0">
                <a:solidFill>
                  <a:srgbClr val="0F172A"/>
                </a:solidFill>
              </a:defRPr>
            </a:pPr>
            <a:r>
              <a:rPr sz="1950" b="0">
                <a:solidFill>
                  <a:srgbClr val="0F172A"/>
                </a:solidFill>
              </a:rPr>
              <a:t>他准备再次确认它。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4E7E7B2-88D7-42E9-99F4-4BF8ACC17223}"/>
              </a:ext>
            </a:extLst>
          </p:cNvPr>
          <p:cNvSpPr>
            <a:spLocks noGrp="1"/>
          </p:cNvSpPr>
          <p:nvPr/>
        </p:nvSpPr>
        <p:spPr>
          <a:xfrm>
            <a:off x="7086600" y="340995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6A34A"/>
                </a:solidFill>
              </a:defRPr>
            </a:pPr>
            <a:r>
              <a:rPr sz="1500" b="1">
                <a:solidFill>
                  <a:srgbClr val="16A34A"/>
                </a:solidFill>
              </a:rPr>
              <a:t>改写：马斯克准备确认书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A00A1BB-C08C-477E-B0F3-6DA3780C50EF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2/14</a:t>
            </a:r>
          </a:p>
        </p:txBody>
      </p:sp>
    </p:spTree>
    <p:extLst>
      <p:ext uri="{BB962C8B-B14F-4D97-AF65-F5344CB8AC3E}">
        <p14:creationId xmlns:p14="http://schemas.microsoft.com/office/powerpoint/2010/main" val="522191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7B4167C5-F06A-400A-B9AD-5CC2153B1C30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核心任务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B75843F-0687-4173-AFE2-A502C0FDE889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任务定义：识别、消解、改写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3A61D94E-5AEB-4F9F-985A-3A1500836234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3632E7A-20B1-4A5E-9790-A9A3F78E81D9}"/>
              </a:ext>
            </a:extLst>
          </p:cNvPr>
          <p:cNvSpPr>
            <a:spLocks noGrp="1"/>
          </p:cNvSpPr>
          <p:nvPr/>
        </p:nvSpPr>
        <p:spPr>
          <a:xfrm>
            <a:off x="857250" y="22479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88EAABC-0253-4ACF-B8A0-B673CF3C7AAF}"/>
              </a:ext>
            </a:extLst>
          </p:cNvPr>
          <p:cNvSpPr>
            <a:spLocks noGrp="1"/>
          </p:cNvSpPr>
          <p:nvPr/>
        </p:nvSpPr>
        <p:spPr>
          <a:xfrm>
            <a:off x="1219200" y="22669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输入文本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8F5C02F-29C7-424B-946D-997125BDC2BE}"/>
              </a:ext>
            </a:extLst>
          </p:cNvPr>
          <p:cNvSpPr>
            <a:spLocks noGrp="1"/>
          </p:cNvSpPr>
          <p:nvPr/>
        </p:nvSpPr>
        <p:spPr>
          <a:xfrm>
            <a:off x="876300" y="264795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用户输入一句或一段中文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C26497B-C463-4006-AACC-3CE304EBBB1E}"/>
              </a:ext>
            </a:extLst>
          </p:cNvPr>
          <p:cNvSpPr>
            <a:spLocks noGrp="1"/>
          </p:cNvSpPr>
          <p:nvPr/>
        </p:nvSpPr>
        <p:spPr>
          <a:xfrm>
            <a:off x="2686050" y="24955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0891B2"/>
                </a:solidFill>
              </a:defRPr>
            </a:pPr>
            <a:r>
              <a:rPr sz="2400" b="1">
                <a:solidFill>
                  <a:srgbClr val="0891B2"/>
                </a:solidFill>
              </a:rPr>
              <a:t>→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ECA4719-6278-4141-851A-68FC3ED1FFB6}"/>
              </a:ext>
            </a:extLst>
          </p:cNvPr>
          <p:cNvSpPr>
            <a:spLocks noGrp="1"/>
          </p:cNvSpPr>
          <p:nvPr/>
        </p:nvSpPr>
        <p:spPr>
          <a:xfrm>
            <a:off x="2895600" y="209550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5CE1371-BF8F-46B9-9D05-0CB7146F76E4}"/>
              </a:ext>
            </a:extLst>
          </p:cNvPr>
          <p:cNvSpPr>
            <a:spLocks noGrp="1"/>
          </p:cNvSpPr>
          <p:nvPr/>
        </p:nvSpPr>
        <p:spPr>
          <a:xfrm>
            <a:off x="3067050" y="22479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A1A117-0409-4558-95E1-746824E8214F}"/>
              </a:ext>
            </a:extLst>
          </p:cNvPr>
          <p:cNvSpPr>
            <a:spLocks noGrp="1"/>
          </p:cNvSpPr>
          <p:nvPr/>
        </p:nvSpPr>
        <p:spPr>
          <a:xfrm>
            <a:off x="3429000" y="22669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抽取候选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ACE550E-DC96-4DE3-8FDC-F360B0B1BE5F}"/>
              </a:ext>
            </a:extLst>
          </p:cNvPr>
          <p:cNvSpPr>
            <a:spLocks noGrp="1"/>
          </p:cNvSpPr>
          <p:nvPr/>
        </p:nvSpPr>
        <p:spPr>
          <a:xfrm>
            <a:off x="3086100" y="264795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识别实体、代词和指代表达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DE26C9A-B94A-4772-B90F-7C858B0EF5B2}"/>
              </a:ext>
            </a:extLst>
          </p:cNvPr>
          <p:cNvSpPr>
            <a:spLocks noGrp="1"/>
          </p:cNvSpPr>
          <p:nvPr/>
        </p:nvSpPr>
        <p:spPr>
          <a:xfrm>
            <a:off x="4895850" y="24955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0891B2"/>
                </a:solidFill>
              </a:defRPr>
            </a:pPr>
            <a:r>
              <a:rPr sz="2400" b="1">
                <a:solidFill>
                  <a:srgbClr val="0891B2"/>
                </a:solidFill>
              </a:rPr>
              <a:t>→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518126E2-817E-4EF4-B17B-84845C780C78}"/>
              </a:ext>
            </a:extLst>
          </p:cNvPr>
          <p:cNvSpPr>
            <a:spLocks noGrp="1"/>
          </p:cNvSpPr>
          <p:nvPr/>
        </p:nvSpPr>
        <p:spPr>
          <a:xfrm>
            <a:off x="5105400" y="209550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81879BA-5837-47EA-9E1A-6BCE40105C0C}"/>
              </a:ext>
            </a:extLst>
          </p:cNvPr>
          <p:cNvSpPr>
            <a:spLocks noGrp="1"/>
          </p:cNvSpPr>
          <p:nvPr/>
        </p:nvSpPr>
        <p:spPr>
          <a:xfrm>
            <a:off x="5276850" y="22479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09ED35C-6B08-4221-970C-E369AFEFB8A2}"/>
              </a:ext>
            </a:extLst>
          </p:cNvPr>
          <p:cNvSpPr>
            <a:spLocks noGrp="1"/>
          </p:cNvSpPr>
          <p:nvPr/>
        </p:nvSpPr>
        <p:spPr>
          <a:xfrm>
            <a:off x="5638800" y="22669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关系打分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BF31174-820D-43E7-924E-42B13A3154FB}"/>
              </a:ext>
            </a:extLst>
          </p:cNvPr>
          <p:cNvSpPr>
            <a:spLocks noGrp="1"/>
          </p:cNvSpPr>
          <p:nvPr/>
        </p:nvSpPr>
        <p:spPr>
          <a:xfrm>
            <a:off x="5295900" y="264795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结合距离、类型、性别、位置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69582CC-EC3E-4802-8FBD-FDF4EEF74E81}"/>
              </a:ext>
            </a:extLst>
          </p:cNvPr>
          <p:cNvSpPr>
            <a:spLocks noGrp="1"/>
          </p:cNvSpPr>
          <p:nvPr/>
        </p:nvSpPr>
        <p:spPr>
          <a:xfrm>
            <a:off x="7105650" y="24955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0891B2"/>
                </a:solidFill>
              </a:defRPr>
            </a:pPr>
            <a:r>
              <a:rPr sz="2400" b="1">
                <a:solidFill>
                  <a:srgbClr val="0891B2"/>
                </a:solidFill>
              </a:rPr>
              <a:t>→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B715B810-4984-4CB7-A0F4-EEE0C0AB22D8}"/>
              </a:ext>
            </a:extLst>
          </p:cNvPr>
          <p:cNvSpPr>
            <a:spLocks noGrp="1"/>
          </p:cNvSpPr>
          <p:nvPr/>
        </p:nvSpPr>
        <p:spPr>
          <a:xfrm>
            <a:off x="7315200" y="209550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B6C7B6B-A2D4-4C26-89EB-5069306D0A14}"/>
              </a:ext>
            </a:extLst>
          </p:cNvPr>
          <p:cNvSpPr>
            <a:spLocks noGrp="1"/>
          </p:cNvSpPr>
          <p:nvPr/>
        </p:nvSpPr>
        <p:spPr>
          <a:xfrm>
            <a:off x="7486650" y="22479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3C05572-F3AA-4B59-B64E-D3EA586A80A2}"/>
              </a:ext>
            </a:extLst>
          </p:cNvPr>
          <p:cNvSpPr>
            <a:spLocks noGrp="1"/>
          </p:cNvSpPr>
          <p:nvPr/>
        </p:nvSpPr>
        <p:spPr>
          <a:xfrm>
            <a:off x="7848600" y="22669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文本改写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D52EA08-A510-4C39-9448-85E6B5DEB0B2}"/>
              </a:ext>
            </a:extLst>
          </p:cNvPr>
          <p:cNvSpPr>
            <a:spLocks noGrp="1"/>
          </p:cNvSpPr>
          <p:nvPr/>
        </p:nvSpPr>
        <p:spPr>
          <a:xfrm>
            <a:off x="7505700" y="264795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用先行词替换可消解代词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C4BDDFF-30B4-4ACE-9627-A40368AF076B}"/>
              </a:ext>
            </a:extLst>
          </p:cNvPr>
          <p:cNvSpPr>
            <a:spLocks noGrp="1"/>
          </p:cNvSpPr>
          <p:nvPr/>
        </p:nvSpPr>
        <p:spPr>
          <a:xfrm>
            <a:off x="9315450" y="24955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0891B2"/>
                </a:solidFill>
              </a:defRPr>
            </a:pPr>
            <a:r>
              <a:rPr sz="2400" b="1">
                <a:solidFill>
                  <a:srgbClr val="0891B2"/>
                </a:solidFill>
              </a:rPr>
              <a:t>→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93F8F748-F5DE-4F1B-9109-8DC618B324C9}"/>
              </a:ext>
            </a:extLst>
          </p:cNvPr>
          <p:cNvSpPr>
            <a:spLocks noGrp="1"/>
          </p:cNvSpPr>
          <p:nvPr/>
        </p:nvSpPr>
        <p:spPr>
          <a:xfrm>
            <a:off x="9525000" y="209550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46FC4EC-8A0F-4E92-9E59-7732F932022C}"/>
              </a:ext>
            </a:extLst>
          </p:cNvPr>
          <p:cNvSpPr>
            <a:spLocks noGrp="1"/>
          </p:cNvSpPr>
          <p:nvPr/>
        </p:nvSpPr>
        <p:spPr>
          <a:xfrm>
            <a:off x="9696450" y="22479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5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411DAA6-0528-403A-8642-AFB91AFA6E5A}"/>
              </a:ext>
            </a:extLst>
          </p:cNvPr>
          <p:cNvSpPr>
            <a:spLocks noGrp="1"/>
          </p:cNvSpPr>
          <p:nvPr/>
        </p:nvSpPr>
        <p:spPr>
          <a:xfrm>
            <a:off x="10058400" y="226695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可视化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7031928-C5CE-41A2-A15C-7FCB845D385B}"/>
              </a:ext>
            </a:extLst>
          </p:cNvPr>
          <p:cNvSpPr>
            <a:spLocks noGrp="1"/>
          </p:cNvSpPr>
          <p:nvPr/>
        </p:nvSpPr>
        <p:spPr>
          <a:xfrm>
            <a:off x="9715500" y="264795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展示高亮、候选得分和错误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D22705C-ED92-4A8F-ACA6-BDC1E1B3F743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3/14</a:t>
            </a:r>
          </a:p>
        </p:txBody>
      </p:sp>
    </p:spTree>
    <p:extLst>
      <p:ext uri="{BB962C8B-B14F-4D97-AF65-F5344CB8AC3E}">
        <p14:creationId xmlns:p14="http://schemas.microsoft.com/office/powerpoint/2010/main" val="60173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CB5B740F-8F2F-4876-A426-28F6B6305F15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实现基础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24EF832-CAC0-4650-B214-9E158472E72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技术栈与工程结构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872CCF7-EC4C-449B-B3DF-29029300DADE}"/>
              </a:ext>
            </a:extLst>
          </p:cNvPr>
          <p:cNvSpPr>
            <a:spLocks noGrp="1"/>
          </p:cNvSpPr>
          <p:nvPr/>
        </p:nvSpPr>
        <p:spPr>
          <a:xfrm>
            <a:off x="952500" y="17145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3C93470-1FF7-4AD9-82B4-946ABFCA4D16}"/>
              </a:ext>
            </a:extLst>
          </p:cNvPr>
          <p:cNvSpPr>
            <a:spLocks noGrp="1"/>
          </p:cNvSpPr>
          <p:nvPr/>
        </p:nvSpPr>
        <p:spPr>
          <a:xfrm>
            <a:off x="1085850" y="1809750"/>
            <a:ext cx="1162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Python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10CB633-469F-455A-8C2F-C9388179FF2B}"/>
              </a:ext>
            </a:extLst>
          </p:cNvPr>
          <p:cNvSpPr>
            <a:spLocks noGrp="1"/>
          </p:cNvSpPr>
          <p:nvPr/>
        </p:nvSpPr>
        <p:spPr>
          <a:xfrm>
            <a:off x="2628900" y="1714500"/>
            <a:ext cx="1619250" cy="41910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9525">
            <a:solidFill>
              <a:srgbClr val="16A34A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5B644F5-8011-49BA-9B28-BB9D95CA47C4}"/>
              </a:ext>
            </a:extLst>
          </p:cNvPr>
          <p:cNvSpPr>
            <a:spLocks noGrp="1"/>
          </p:cNvSpPr>
          <p:nvPr/>
        </p:nvSpPr>
        <p:spPr>
          <a:xfrm>
            <a:off x="2762250" y="1809750"/>
            <a:ext cx="1352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6A34A"/>
                </a:solidFill>
              </a:defRPr>
            </a:pPr>
            <a:r>
              <a:rPr sz="1350" b="1">
                <a:solidFill>
                  <a:srgbClr val="16A34A"/>
                </a:solidFill>
              </a:rPr>
              <a:t>Streamlit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8A2ACDB4-71CE-4D02-9213-2C156EB084EB}"/>
              </a:ext>
            </a:extLst>
          </p:cNvPr>
          <p:cNvSpPr>
            <a:spLocks noGrp="1"/>
          </p:cNvSpPr>
          <p:nvPr/>
        </p:nvSpPr>
        <p:spPr>
          <a:xfrm>
            <a:off x="4495800" y="1714500"/>
            <a:ext cx="1619250" cy="41910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83DDF50-D94B-4E26-8270-3A31216BEC67}"/>
              </a:ext>
            </a:extLst>
          </p:cNvPr>
          <p:cNvSpPr>
            <a:spLocks noGrp="1"/>
          </p:cNvSpPr>
          <p:nvPr/>
        </p:nvSpPr>
        <p:spPr>
          <a:xfrm>
            <a:off x="4629150" y="1809750"/>
            <a:ext cx="1352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891B2"/>
                </a:solidFill>
              </a:defRPr>
            </a:pPr>
            <a:r>
              <a:rPr sz="1350" b="1">
                <a:solidFill>
                  <a:srgbClr val="0891B2"/>
                </a:solidFill>
              </a:rPr>
              <a:t>规则引擎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B7E48FF2-6E3B-45D7-A38B-93193700D3FB}"/>
              </a:ext>
            </a:extLst>
          </p:cNvPr>
          <p:cNvSpPr>
            <a:spLocks noGrp="1"/>
          </p:cNvSpPr>
          <p:nvPr/>
        </p:nvSpPr>
        <p:spPr>
          <a:xfrm>
            <a:off x="6362700" y="1714500"/>
            <a:ext cx="1809750" cy="41910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D322968-E90F-45D3-9127-210688B9AB59}"/>
              </a:ext>
            </a:extLst>
          </p:cNvPr>
          <p:cNvSpPr>
            <a:spLocks noGrp="1"/>
          </p:cNvSpPr>
          <p:nvPr/>
        </p:nvSpPr>
        <p:spPr>
          <a:xfrm>
            <a:off x="6496050" y="1809750"/>
            <a:ext cx="1543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HanLP / LTP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856B6D-0AE3-40B0-8D9D-45ABAF692D49}"/>
              </a:ext>
            </a:extLst>
          </p:cNvPr>
          <p:cNvSpPr>
            <a:spLocks noGrp="1"/>
          </p:cNvSpPr>
          <p:nvPr/>
        </p:nvSpPr>
        <p:spPr>
          <a:xfrm>
            <a:off x="8420100" y="1714500"/>
            <a:ext cx="2190750" cy="41910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62F1C5-FB17-40BC-ADE1-E3E4DDC88B29}"/>
              </a:ext>
            </a:extLst>
          </p:cNvPr>
          <p:cNvSpPr>
            <a:spLocks noGrp="1"/>
          </p:cNvSpPr>
          <p:nvPr/>
        </p:nvSpPr>
        <p:spPr>
          <a:xfrm>
            <a:off x="8553450" y="1809750"/>
            <a:ext cx="1924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DC2626"/>
                </a:solidFill>
              </a:defRPr>
            </a:pPr>
            <a:r>
              <a:rPr sz="1350" b="1">
                <a:solidFill>
                  <a:srgbClr val="DC2626"/>
                </a:solidFill>
              </a:rPr>
              <a:t>Nginx / 云服务器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62F2A1D-B9CC-4D82-BA88-7C96033DE126}"/>
              </a:ext>
            </a:extLst>
          </p:cNvPr>
          <p:cNvSpPr>
            <a:spLocks noGrp="1"/>
          </p:cNvSpPr>
          <p:nvPr/>
        </p:nvSpPr>
        <p:spPr>
          <a:xfrm>
            <a:off x="1200150" y="2667000"/>
            <a:ext cx="97155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970E9B7-0184-45B7-8267-426FE4F556E6}"/>
              </a:ext>
            </a:extLst>
          </p:cNvPr>
          <p:cNvSpPr>
            <a:spLocks noGrp="1"/>
          </p:cNvSpPr>
          <p:nvPr/>
        </p:nvSpPr>
        <p:spPr>
          <a:xfrm>
            <a:off x="1314450" y="2781300"/>
            <a:ext cx="2914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模块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CC67632-9D8F-4DF7-A818-29C4165C1DEE}"/>
              </a:ext>
            </a:extLst>
          </p:cNvPr>
          <p:cNvSpPr>
            <a:spLocks noGrp="1"/>
          </p:cNvSpPr>
          <p:nvPr/>
        </p:nvSpPr>
        <p:spPr>
          <a:xfrm>
            <a:off x="4457700" y="2781300"/>
            <a:ext cx="6343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职责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C1D2363-C9C4-4E6E-9F9D-B0EA2FE0FF31}"/>
              </a:ext>
            </a:extLst>
          </p:cNvPr>
          <p:cNvSpPr>
            <a:spLocks noGrp="1"/>
          </p:cNvSpPr>
          <p:nvPr/>
        </p:nvSpPr>
        <p:spPr>
          <a:xfrm>
            <a:off x="1209675" y="3124200"/>
            <a:ext cx="96964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1813ADB-574B-430B-A234-A4B49ED8A90C}"/>
              </a:ext>
            </a:extLst>
          </p:cNvPr>
          <p:cNvSpPr>
            <a:spLocks noGrp="1"/>
          </p:cNvSpPr>
          <p:nvPr/>
        </p:nvSpPr>
        <p:spPr>
          <a:xfrm>
            <a:off x="1314450" y="3238500"/>
            <a:ext cx="2914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mention_extractor.py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E46DE65-4721-4E09-934D-3F7F578BB3D2}"/>
              </a:ext>
            </a:extLst>
          </p:cNvPr>
          <p:cNvSpPr>
            <a:spLocks noGrp="1"/>
          </p:cNvSpPr>
          <p:nvPr/>
        </p:nvSpPr>
        <p:spPr>
          <a:xfrm>
            <a:off x="4457700" y="3238500"/>
            <a:ext cx="6343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抽取实体与代词，并接入训练词表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838E134-F48E-46B7-98D2-4D06198D7302}"/>
              </a:ext>
            </a:extLst>
          </p:cNvPr>
          <p:cNvSpPr>
            <a:spLocks noGrp="1"/>
          </p:cNvSpPr>
          <p:nvPr/>
        </p:nvSpPr>
        <p:spPr>
          <a:xfrm>
            <a:off x="1209675" y="3581400"/>
            <a:ext cx="96964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E5BF9DA-DBE5-4450-9C4C-3C66B5AF0352}"/>
              </a:ext>
            </a:extLst>
          </p:cNvPr>
          <p:cNvSpPr>
            <a:spLocks noGrp="1"/>
          </p:cNvSpPr>
          <p:nvPr/>
        </p:nvSpPr>
        <p:spPr>
          <a:xfrm>
            <a:off x="1314450" y="3695700"/>
            <a:ext cx="2914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resolver.py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E436E0E-C1CB-4F4A-9B34-A46C80940C65}"/>
              </a:ext>
            </a:extLst>
          </p:cNvPr>
          <p:cNvSpPr>
            <a:spLocks noGrp="1"/>
          </p:cNvSpPr>
          <p:nvPr/>
        </p:nvSpPr>
        <p:spPr>
          <a:xfrm>
            <a:off x="4457700" y="3695700"/>
            <a:ext cx="6343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候选先行词打分、歧义检测、规则覆盖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178D4E0-9AB8-46EB-B6DD-2DA1D92C01B9}"/>
              </a:ext>
            </a:extLst>
          </p:cNvPr>
          <p:cNvSpPr>
            <a:spLocks noGrp="1"/>
          </p:cNvSpPr>
          <p:nvPr/>
        </p:nvSpPr>
        <p:spPr>
          <a:xfrm>
            <a:off x="1209675" y="4038600"/>
            <a:ext cx="96964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81D88E6-D631-4BB9-9881-F45E5895509C}"/>
              </a:ext>
            </a:extLst>
          </p:cNvPr>
          <p:cNvSpPr>
            <a:spLocks noGrp="1"/>
          </p:cNvSpPr>
          <p:nvPr/>
        </p:nvSpPr>
        <p:spPr>
          <a:xfrm>
            <a:off x="1314450" y="4152900"/>
            <a:ext cx="2914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rewriter.py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6B02772-5084-4E05-B467-0A226966B029}"/>
              </a:ext>
            </a:extLst>
          </p:cNvPr>
          <p:cNvSpPr>
            <a:spLocks noGrp="1"/>
          </p:cNvSpPr>
          <p:nvPr/>
        </p:nvSpPr>
        <p:spPr>
          <a:xfrm>
            <a:off x="4457700" y="4152900"/>
            <a:ext cx="6343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根据消解结果生成改写文本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B94F64D-7CCB-4CD1-B2FA-3CD356E5ADFB}"/>
              </a:ext>
            </a:extLst>
          </p:cNvPr>
          <p:cNvSpPr>
            <a:spLocks noGrp="1"/>
          </p:cNvSpPr>
          <p:nvPr/>
        </p:nvSpPr>
        <p:spPr>
          <a:xfrm>
            <a:off x="1209675" y="4495800"/>
            <a:ext cx="96964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7DCBC4B-8079-4E67-9F88-91BA87CE45B1}"/>
              </a:ext>
            </a:extLst>
          </p:cNvPr>
          <p:cNvSpPr>
            <a:spLocks noGrp="1"/>
          </p:cNvSpPr>
          <p:nvPr/>
        </p:nvSpPr>
        <p:spPr>
          <a:xfrm>
            <a:off x="1314450" y="4610100"/>
            <a:ext cx="2914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evaluator.py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88AD745-0FE6-420F-B52C-716E0EE083E0}"/>
              </a:ext>
            </a:extLst>
          </p:cNvPr>
          <p:cNvSpPr>
            <a:spLocks noGrp="1"/>
          </p:cNvSpPr>
          <p:nvPr/>
        </p:nvSpPr>
        <p:spPr>
          <a:xfrm>
            <a:off x="4457700" y="4610100"/>
            <a:ext cx="6343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计算 Precision / Recall / F1 并输出错误样本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242B40B-C624-4EE6-98F6-3D5464DF2491}"/>
              </a:ext>
            </a:extLst>
          </p:cNvPr>
          <p:cNvSpPr>
            <a:spLocks noGrp="1"/>
          </p:cNvSpPr>
          <p:nvPr/>
        </p:nvSpPr>
        <p:spPr>
          <a:xfrm>
            <a:off x="1209675" y="4953000"/>
            <a:ext cx="96964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FB260B6-E7DA-4494-8B9B-3EAB737955CB}"/>
              </a:ext>
            </a:extLst>
          </p:cNvPr>
          <p:cNvSpPr>
            <a:spLocks noGrp="1"/>
          </p:cNvSpPr>
          <p:nvPr/>
        </p:nvSpPr>
        <p:spPr>
          <a:xfrm>
            <a:off x="1314450" y="5067300"/>
            <a:ext cx="2914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app.py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AE27B3-DD7B-4F10-9214-C47FA5135DF9}"/>
              </a:ext>
            </a:extLst>
          </p:cNvPr>
          <p:cNvSpPr>
            <a:spLocks noGrp="1"/>
          </p:cNvSpPr>
          <p:nvPr/>
        </p:nvSpPr>
        <p:spPr>
          <a:xfrm>
            <a:off x="4457700" y="5067300"/>
            <a:ext cx="6343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Streamlit 页面、评估页、消融实验页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5222C76-6EBA-4D92-84E7-41E46C0C3912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4/14</a:t>
            </a:r>
          </a:p>
        </p:txBody>
      </p:sp>
    </p:spTree>
    <p:extLst>
      <p:ext uri="{BB962C8B-B14F-4D97-AF65-F5344CB8AC3E}">
        <p14:creationId xmlns:p14="http://schemas.microsoft.com/office/powerpoint/2010/main" val="620825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D6B779FF-6C85-4D62-A14D-96E5CEB7D0B4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数据准备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A593E2-4F12-4841-8E75-B71F600D4772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数据集构成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="1143000" y="1714500"/>
          <a:ext cx="4953000" cy="3143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786E43D2-37C2-42F8-AC6E-F04C6FD8B471}"/>
              </a:ext>
            </a:extLst>
          </p:cNvPr>
          <p:cNvSpPr>
            <a:spLocks noGrp="1"/>
          </p:cNvSpPr>
          <p:nvPr/>
        </p:nvSpPr>
        <p:spPr>
          <a:xfrm>
            <a:off x="6858000" y="1809750"/>
            <a:ext cx="40005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• 构造集用于验证基础规则稳定性。</a:t>
            </a:r>
          </a:p>
          <a:p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• 真实语料风格集用于暴露复杂错误。</a:t>
            </a:r>
          </a:p>
          <a:p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• new_set.json 新增 85 条标注数据，生成 train.json。</a:t>
            </a:r>
          </a:p>
          <a:p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• 训练集包含 162 个真实指代关系。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AF7C069-B8F2-49AA-9D36-7E73667B923B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5/14</a:t>
            </a:r>
          </a:p>
        </p:txBody>
      </p:sp>
    </p:spTree>
    <p:extLst>
      <p:ext uri="{BB962C8B-B14F-4D97-AF65-F5344CB8AC3E}">
        <p14:creationId xmlns:p14="http://schemas.microsoft.com/office/powerpoint/2010/main" val="1221438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B8A82BB0-FD9B-4707-A98A-2535089325FD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从输入到展示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9455A97-704D-4BDE-B545-778F4C50920A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系统架构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014A3EB-B69A-4343-B74E-09518459AF02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B67FD90-5F7C-4E60-A1EA-8421D2A136A8}"/>
              </a:ext>
            </a:extLst>
          </p:cNvPr>
          <p:cNvSpPr>
            <a:spLocks noGrp="1"/>
          </p:cNvSpPr>
          <p:nvPr/>
        </p:nvSpPr>
        <p:spPr>
          <a:xfrm>
            <a:off x="857250" y="19621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1F3E436-34B5-4B5D-9FB2-222AA1071137}"/>
              </a:ext>
            </a:extLst>
          </p:cNvPr>
          <p:cNvSpPr>
            <a:spLocks noGrp="1"/>
          </p:cNvSpPr>
          <p:nvPr/>
        </p:nvSpPr>
        <p:spPr>
          <a:xfrm>
            <a:off x="1219200" y="198120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数据层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B2E2E92-B0BE-44F6-90BC-31E71B3F73DF}"/>
              </a:ext>
            </a:extLst>
          </p:cNvPr>
          <p:cNvSpPr>
            <a:spLocks noGrp="1"/>
          </p:cNvSpPr>
          <p:nvPr/>
        </p:nvSpPr>
        <p:spPr>
          <a:xfrm>
            <a:off x="876300" y="236220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demo/dev/test/train JSON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5106536-5106-4B23-B2DF-CA18D7214E4C}"/>
              </a:ext>
            </a:extLst>
          </p:cNvPr>
          <p:cNvSpPr>
            <a:spLocks noGrp="1"/>
          </p:cNvSpPr>
          <p:nvPr/>
        </p:nvSpPr>
        <p:spPr>
          <a:xfrm>
            <a:off x="2686050" y="220980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0891B2"/>
                </a:solidFill>
              </a:defRPr>
            </a:pPr>
            <a:r>
              <a:rPr sz="2400" b="1">
                <a:solidFill>
                  <a:srgbClr val="0891B2"/>
                </a:solidFill>
              </a:rPr>
              <a:t>→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9792D85-D206-4ABF-A78C-DAF60FD738DA}"/>
              </a:ext>
            </a:extLst>
          </p:cNvPr>
          <p:cNvSpPr>
            <a:spLocks noGrp="1"/>
          </p:cNvSpPr>
          <p:nvPr/>
        </p:nvSpPr>
        <p:spPr>
          <a:xfrm>
            <a:off x="2895600" y="180975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D8511E8-7144-46C4-93F0-52868E8BABBF}"/>
              </a:ext>
            </a:extLst>
          </p:cNvPr>
          <p:cNvSpPr>
            <a:spLocks noGrp="1"/>
          </p:cNvSpPr>
          <p:nvPr/>
        </p:nvSpPr>
        <p:spPr>
          <a:xfrm>
            <a:off x="3067050" y="19621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72DB00A-9D86-4B56-805A-060216E78341}"/>
              </a:ext>
            </a:extLst>
          </p:cNvPr>
          <p:cNvSpPr>
            <a:spLocks noGrp="1"/>
          </p:cNvSpPr>
          <p:nvPr/>
        </p:nvSpPr>
        <p:spPr>
          <a:xfrm>
            <a:off x="3429000" y="198120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抽取层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1D18803-22D5-4F36-AA6D-19019DE9F255}"/>
              </a:ext>
            </a:extLst>
          </p:cNvPr>
          <p:cNvSpPr>
            <a:spLocks noGrp="1"/>
          </p:cNvSpPr>
          <p:nvPr/>
        </p:nvSpPr>
        <p:spPr>
          <a:xfrm>
            <a:off x="3086100" y="236220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规则词典 + 可选 NLP 后端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96C6B18-B736-477B-83C6-8AAB8D6021BC}"/>
              </a:ext>
            </a:extLst>
          </p:cNvPr>
          <p:cNvSpPr>
            <a:spLocks noGrp="1"/>
          </p:cNvSpPr>
          <p:nvPr/>
        </p:nvSpPr>
        <p:spPr>
          <a:xfrm>
            <a:off x="4895850" y="220980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0891B2"/>
                </a:solidFill>
              </a:defRPr>
            </a:pPr>
            <a:r>
              <a:rPr sz="2400" b="1">
                <a:solidFill>
                  <a:srgbClr val="0891B2"/>
                </a:solidFill>
              </a:rPr>
              <a:t>→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A13A047-63C3-445C-B5A7-6D43E9D403AC}"/>
              </a:ext>
            </a:extLst>
          </p:cNvPr>
          <p:cNvSpPr>
            <a:spLocks noGrp="1"/>
          </p:cNvSpPr>
          <p:nvPr/>
        </p:nvSpPr>
        <p:spPr>
          <a:xfrm>
            <a:off x="5105400" y="180975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89E82C3-D883-4C9C-826D-9E11FBAF9FEF}"/>
              </a:ext>
            </a:extLst>
          </p:cNvPr>
          <p:cNvSpPr>
            <a:spLocks noGrp="1"/>
          </p:cNvSpPr>
          <p:nvPr/>
        </p:nvSpPr>
        <p:spPr>
          <a:xfrm>
            <a:off x="5276850" y="19621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3EC29B9-1462-40DD-9B55-83191A989FCF}"/>
              </a:ext>
            </a:extLst>
          </p:cNvPr>
          <p:cNvSpPr>
            <a:spLocks noGrp="1"/>
          </p:cNvSpPr>
          <p:nvPr/>
        </p:nvSpPr>
        <p:spPr>
          <a:xfrm>
            <a:off x="5638800" y="198120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消解层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C5E8CA5-03F0-4058-B6F8-7293A9E11548}"/>
              </a:ext>
            </a:extLst>
          </p:cNvPr>
          <p:cNvSpPr>
            <a:spLocks noGrp="1"/>
          </p:cNvSpPr>
          <p:nvPr/>
        </p:nvSpPr>
        <p:spPr>
          <a:xfrm>
            <a:off x="5295900" y="236220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候选排序与歧义检测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8A921CB-7405-4A2B-9E61-136193C8D4D9}"/>
              </a:ext>
            </a:extLst>
          </p:cNvPr>
          <p:cNvSpPr>
            <a:spLocks noGrp="1"/>
          </p:cNvSpPr>
          <p:nvPr/>
        </p:nvSpPr>
        <p:spPr>
          <a:xfrm>
            <a:off x="7105650" y="220980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0891B2"/>
                </a:solidFill>
              </a:defRPr>
            </a:pPr>
            <a:r>
              <a:rPr sz="2400" b="1">
                <a:solidFill>
                  <a:srgbClr val="0891B2"/>
                </a:solidFill>
              </a:rPr>
              <a:t>→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573B0E6D-5039-42C2-8931-597E16D6A1FF}"/>
              </a:ext>
            </a:extLst>
          </p:cNvPr>
          <p:cNvSpPr>
            <a:spLocks noGrp="1"/>
          </p:cNvSpPr>
          <p:nvPr/>
        </p:nvSpPr>
        <p:spPr>
          <a:xfrm>
            <a:off x="7315200" y="180975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9EAD381-9D20-4D7D-AAC2-1B8474977F16}"/>
              </a:ext>
            </a:extLst>
          </p:cNvPr>
          <p:cNvSpPr>
            <a:spLocks noGrp="1"/>
          </p:cNvSpPr>
          <p:nvPr/>
        </p:nvSpPr>
        <p:spPr>
          <a:xfrm>
            <a:off x="7486650" y="19621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CB336AC-2EF9-47BE-8059-A4FC3C1E3428}"/>
              </a:ext>
            </a:extLst>
          </p:cNvPr>
          <p:cNvSpPr>
            <a:spLocks noGrp="1"/>
          </p:cNvSpPr>
          <p:nvPr/>
        </p:nvSpPr>
        <p:spPr>
          <a:xfrm>
            <a:off x="7848600" y="198120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评估层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E5ACE27-49F8-402E-8B24-197CC96CBD0C}"/>
              </a:ext>
            </a:extLst>
          </p:cNvPr>
          <p:cNvSpPr>
            <a:spLocks noGrp="1"/>
          </p:cNvSpPr>
          <p:nvPr/>
        </p:nvSpPr>
        <p:spPr>
          <a:xfrm>
            <a:off x="7505700" y="236220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指标、错误、消融实验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FFC91C2-0460-433A-89DC-19D363A515AB}"/>
              </a:ext>
            </a:extLst>
          </p:cNvPr>
          <p:cNvSpPr>
            <a:spLocks noGrp="1"/>
          </p:cNvSpPr>
          <p:nvPr/>
        </p:nvSpPr>
        <p:spPr>
          <a:xfrm>
            <a:off x="9315450" y="220980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0891B2"/>
                </a:solidFill>
              </a:defRPr>
            </a:pPr>
            <a:r>
              <a:rPr sz="2400" b="1">
                <a:solidFill>
                  <a:srgbClr val="0891B2"/>
                </a:solidFill>
              </a:rPr>
              <a:t>→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85308919-1EBD-4F05-A8CE-C4EE7361520F}"/>
              </a:ext>
            </a:extLst>
          </p:cNvPr>
          <p:cNvSpPr>
            <a:spLocks noGrp="1"/>
          </p:cNvSpPr>
          <p:nvPr/>
        </p:nvSpPr>
        <p:spPr>
          <a:xfrm>
            <a:off x="9525000" y="180975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B80C566-C470-4409-9B9D-CC850AB0FFBC}"/>
              </a:ext>
            </a:extLst>
          </p:cNvPr>
          <p:cNvSpPr>
            <a:spLocks noGrp="1"/>
          </p:cNvSpPr>
          <p:nvPr/>
        </p:nvSpPr>
        <p:spPr>
          <a:xfrm>
            <a:off x="9696450" y="19621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5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139D9A3-953B-419F-BF41-2208E190D641}"/>
              </a:ext>
            </a:extLst>
          </p:cNvPr>
          <p:cNvSpPr>
            <a:spLocks noGrp="1"/>
          </p:cNvSpPr>
          <p:nvPr/>
        </p:nvSpPr>
        <p:spPr>
          <a:xfrm>
            <a:off x="10058400" y="198120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展示层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ADED860-EDF5-4B0A-A64A-78B0D46B4F1A}"/>
              </a:ext>
            </a:extLst>
          </p:cNvPr>
          <p:cNvSpPr>
            <a:spLocks noGrp="1"/>
          </p:cNvSpPr>
          <p:nvPr/>
        </p:nvSpPr>
        <p:spPr>
          <a:xfrm>
            <a:off x="9715500" y="236220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Streamlit Web Demo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D978B01-398A-4E84-847A-4F91C817873D}"/>
              </a:ext>
            </a:extLst>
          </p:cNvPr>
          <p:cNvSpPr>
            <a:spLocks noGrp="1"/>
          </p:cNvSpPr>
          <p:nvPr/>
        </p:nvSpPr>
        <p:spPr>
          <a:xfrm>
            <a:off x="1524000" y="4000500"/>
            <a:ext cx="8763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334155"/>
                </a:solidFill>
              </a:defRPr>
            </a:pPr>
            <a:r>
              <a:rPr sz="1800" b="1">
                <a:solidFill>
                  <a:srgbClr val="334155"/>
                </a:solidFill>
              </a:rPr>
              <a:t>设计取向：优先保证可解释性，每个判断都能展示候选得分和规则理由。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1107217-CE86-459B-B3E7-D101FC300602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6/14</a:t>
            </a:r>
          </a:p>
        </p:txBody>
      </p:sp>
    </p:spTree>
    <p:extLst>
      <p:ext uri="{BB962C8B-B14F-4D97-AF65-F5344CB8AC3E}">
        <p14:creationId xmlns:p14="http://schemas.microsoft.com/office/powerpoint/2010/main" val="1193649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241D9B43-FD50-4F40-AC7C-C36F6903649D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核心算法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9116C9B-60CC-4B52-A94B-A51AD3C6F02F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规则引擎如何判断先行词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55FD467-BDA5-48C4-A3D0-E89CFD7D5B44}"/>
              </a:ext>
            </a:extLst>
          </p:cNvPr>
          <p:cNvSpPr>
            <a:spLocks noGrp="1"/>
          </p:cNvSpPr>
          <p:nvPr/>
        </p:nvSpPr>
        <p:spPr>
          <a:xfrm>
            <a:off x="933450" y="1543050"/>
            <a:ext cx="103251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ED9820-173B-481F-974A-1306AE36A4F6}"/>
              </a:ext>
            </a:extLst>
          </p:cNvPr>
          <p:cNvSpPr>
            <a:spLocks noGrp="1"/>
          </p:cNvSpPr>
          <p:nvPr/>
        </p:nvSpPr>
        <p:spPr>
          <a:xfrm>
            <a:off x="1047750" y="1657350"/>
            <a:ext cx="1295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信号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9656355-4FEB-4F56-825E-C609B972950D}"/>
              </a:ext>
            </a:extLst>
          </p:cNvPr>
          <p:cNvSpPr>
            <a:spLocks noGrp="1"/>
          </p:cNvSpPr>
          <p:nvPr/>
        </p:nvSpPr>
        <p:spPr>
          <a:xfrm>
            <a:off x="2571750" y="1657350"/>
            <a:ext cx="4248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含义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717485D-28B8-4098-8977-A26BC716AEC6}"/>
              </a:ext>
            </a:extLst>
          </p:cNvPr>
          <p:cNvSpPr>
            <a:spLocks noGrp="1"/>
          </p:cNvSpPr>
          <p:nvPr/>
        </p:nvSpPr>
        <p:spPr>
          <a:xfrm>
            <a:off x="7048500" y="16573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作用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29F4054-F9EF-4716-A90B-79F887B96DFD}"/>
              </a:ext>
            </a:extLst>
          </p:cNvPr>
          <p:cNvSpPr>
            <a:spLocks noGrp="1"/>
          </p:cNvSpPr>
          <p:nvPr/>
        </p:nvSpPr>
        <p:spPr>
          <a:xfrm>
            <a:off x="942975" y="2000250"/>
            <a:ext cx="103060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0911765-89E6-4544-A9EF-2187F29C2B06}"/>
              </a:ext>
            </a:extLst>
          </p:cNvPr>
          <p:cNvSpPr>
            <a:spLocks noGrp="1"/>
          </p:cNvSpPr>
          <p:nvPr/>
        </p:nvSpPr>
        <p:spPr>
          <a:xfrm>
            <a:off x="1047750" y="2114550"/>
            <a:ext cx="1295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距离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8585B1B-7FC0-4CEC-897F-D45585214960}"/>
              </a:ext>
            </a:extLst>
          </p:cNvPr>
          <p:cNvSpPr>
            <a:spLocks noGrp="1"/>
          </p:cNvSpPr>
          <p:nvPr/>
        </p:nvSpPr>
        <p:spPr>
          <a:xfrm>
            <a:off x="2571750" y="2114550"/>
            <a:ext cx="4248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候选实体与代词的字符距离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DC425D-78EE-4077-B4BD-DD603D0B816B}"/>
              </a:ext>
            </a:extLst>
          </p:cNvPr>
          <p:cNvSpPr>
            <a:spLocks noGrp="1"/>
          </p:cNvSpPr>
          <p:nvPr/>
        </p:nvSpPr>
        <p:spPr>
          <a:xfrm>
            <a:off x="7048500" y="21145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越近通常越可能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256CFA1-4E50-4C4B-AF86-E2AF32253041}"/>
              </a:ext>
            </a:extLst>
          </p:cNvPr>
          <p:cNvSpPr>
            <a:spLocks noGrp="1"/>
          </p:cNvSpPr>
          <p:nvPr/>
        </p:nvSpPr>
        <p:spPr>
          <a:xfrm>
            <a:off x="942975" y="2457450"/>
            <a:ext cx="103060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7BDB620-B2AA-4F5C-8CCC-A4883741C3B0}"/>
              </a:ext>
            </a:extLst>
          </p:cNvPr>
          <p:cNvSpPr>
            <a:spLocks noGrp="1"/>
          </p:cNvSpPr>
          <p:nvPr/>
        </p:nvSpPr>
        <p:spPr>
          <a:xfrm>
            <a:off x="1047750" y="2571750"/>
            <a:ext cx="1295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位置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40BE621-245D-4A67-9F69-D821A313C51C}"/>
              </a:ext>
            </a:extLst>
          </p:cNvPr>
          <p:cNvSpPr>
            <a:spLocks noGrp="1"/>
          </p:cNvSpPr>
          <p:nvPr/>
        </p:nvSpPr>
        <p:spPr>
          <a:xfrm>
            <a:off x="2571750" y="2571750"/>
            <a:ext cx="4248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候选应优先出现在代词之前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A4FE8D0-D776-41C7-AF5F-6FC46A285AD5}"/>
              </a:ext>
            </a:extLst>
          </p:cNvPr>
          <p:cNvSpPr>
            <a:spLocks noGrp="1"/>
          </p:cNvSpPr>
          <p:nvPr/>
        </p:nvSpPr>
        <p:spPr>
          <a:xfrm>
            <a:off x="7048500" y="25717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降低后文实体误判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137210A-6CB2-4D5E-A00C-C7B01AC7EC78}"/>
              </a:ext>
            </a:extLst>
          </p:cNvPr>
          <p:cNvSpPr>
            <a:spLocks noGrp="1"/>
          </p:cNvSpPr>
          <p:nvPr/>
        </p:nvSpPr>
        <p:spPr>
          <a:xfrm>
            <a:off x="942975" y="2914650"/>
            <a:ext cx="103060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2CB9A17-18AB-47DA-A031-6FE927850C0D}"/>
              </a:ext>
            </a:extLst>
          </p:cNvPr>
          <p:cNvSpPr>
            <a:spLocks noGrp="1"/>
          </p:cNvSpPr>
          <p:nvPr/>
        </p:nvSpPr>
        <p:spPr>
          <a:xfrm>
            <a:off x="1047750" y="3028950"/>
            <a:ext cx="1295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类型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CFFF57A-9C66-4C62-8AE4-166428E74AE9}"/>
              </a:ext>
            </a:extLst>
          </p:cNvPr>
          <p:cNvSpPr>
            <a:spLocks noGrp="1"/>
          </p:cNvSpPr>
          <p:nvPr/>
        </p:nvSpPr>
        <p:spPr>
          <a:xfrm>
            <a:off x="2571750" y="3028950"/>
            <a:ext cx="4248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人称/物体/组织指代匹配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85FAFC4-BC2A-4916-8447-DC97F06F5C78}"/>
              </a:ext>
            </a:extLst>
          </p:cNvPr>
          <p:cNvSpPr>
            <a:spLocks noGrp="1"/>
          </p:cNvSpPr>
          <p:nvPr/>
        </p:nvSpPr>
        <p:spPr>
          <a:xfrm>
            <a:off x="7048500" y="30289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当前最关键规则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B219294-9FB3-418A-88CE-4D17E074DFED}"/>
              </a:ext>
            </a:extLst>
          </p:cNvPr>
          <p:cNvSpPr>
            <a:spLocks noGrp="1"/>
          </p:cNvSpPr>
          <p:nvPr/>
        </p:nvSpPr>
        <p:spPr>
          <a:xfrm>
            <a:off x="942975" y="3371850"/>
            <a:ext cx="103060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C71D81C-7323-4AC4-928C-EE04724F50C3}"/>
              </a:ext>
            </a:extLst>
          </p:cNvPr>
          <p:cNvSpPr>
            <a:spLocks noGrp="1"/>
          </p:cNvSpPr>
          <p:nvPr/>
        </p:nvSpPr>
        <p:spPr>
          <a:xfrm>
            <a:off x="1047750" y="3486150"/>
            <a:ext cx="1295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性别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EF903B8-CC07-46F7-82E7-AB6B06AAD68A}"/>
              </a:ext>
            </a:extLst>
          </p:cNvPr>
          <p:cNvSpPr>
            <a:spLocks noGrp="1"/>
          </p:cNvSpPr>
          <p:nvPr/>
        </p:nvSpPr>
        <p:spPr>
          <a:xfrm>
            <a:off x="2571750" y="3486150"/>
            <a:ext cx="4248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他/她与已知人名性别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7F2C11C-ACB5-44D1-BA64-290560A9B8C0}"/>
              </a:ext>
            </a:extLst>
          </p:cNvPr>
          <p:cNvSpPr>
            <a:spLocks noGrp="1"/>
          </p:cNvSpPr>
          <p:nvPr/>
        </p:nvSpPr>
        <p:spPr>
          <a:xfrm>
            <a:off x="7048500" y="34861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处理基础人名样本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4764BC8-22DC-4FDB-8D59-A1EFAC2D89BF}"/>
              </a:ext>
            </a:extLst>
          </p:cNvPr>
          <p:cNvSpPr>
            <a:spLocks noGrp="1"/>
          </p:cNvSpPr>
          <p:nvPr/>
        </p:nvSpPr>
        <p:spPr>
          <a:xfrm>
            <a:off x="942975" y="3829050"/>
            <a:ext cx="103060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127C59D-73D6-4433-B433-79992E8EA671}"/>
              </a:ext>
            </a:extLst>
          </p:cNvPr>
          <p:cNvSpPr>
            <a:spLocks noGrp="1"/>
          </p:cNvSpPr>
          <p:nvPr/>
        </p:nvSpPr>
        <p:spPr>
          <a:xfrm>
            <a:off x="1047750" y="3943350"/>
            <a:ext cx="1295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角色模式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2D6B1BA-E147-4415-BC9F-069BF1F78BF4}"/>
              </a:ext>
            </a:extLst>
          </p:cNvPr>
          <p:cNvSpPr>
            <a:spLocks noGrp="1"/>
          </p:cNvSpPr>
          <p:nvPr/>
        </p:nvSpPr>
        <p:spPr>
          <a:xfrm>
            <a:off x="2571750" y="3943350"/>
            <a:ext cx="4248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替/帮/为、对/向/跟说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65D4C29-B728-49F2-BEE8-4AC325B71998}"/>
              </a:ext>
            </a:extLst>
          </p:cNvPr>
          <p:cNvSpPr>
            <a:spLocks noGrp="1"/>
          </p:cNvSpPr>
          <p:nvPr/>
        </p:nvSpPr>
        <p:spPr>
          <a:xfrm>
            <a:off x="7048500" y="3943350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处理动作角色与歧义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18FF0A3-A2DB-441E-B270-77987825A8D1}"/>
              </a:ext>
            </a:extLst>
          </p:cNvPr>
          <p:cNvSpPr>
            <a:spLocks noGrp="1"/>
          </p:cNvSpPr>
          <p:nvPr/>
        </p:nvSpPr>
        <p:spPr>
          <a:xfrm>
            <a:off x="1409700" y="4857750"/>
            <a:ext cx="933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输出不是黑盒标签，而是候选列表、分数和理由。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2359D6B-F74A-405D-9933-2BBCA037CFD6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7/14</a:t>
            </a:r>
          </a:p>
        </p:txBody>
      </p:sp>
    </p:spTree>
    <p:extLst>
      <p:ext uri="{BB962C8B-B14F-4D97-AF65-F5344CB8AC3E}">
        <p14:creationId xmlns:p14="http://schemas.microsoft.com/office/powerpoint/2010/main" val="261040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3CA09E0B-F961-4EC3-9F2C-CEB22736EDF3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训练增强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A1D3BDC-6681-4872-AEE1-C05C64AA6273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新标注集接入流程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769A54DA-0D4F-4586-ACB4-9123CD679938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57304B9-F78F-453A-9943-15F6DD4700BB}"/>
              </a:ext>
            </a:extLst>
          </p:cNvPr>
          <p:cNvSpPr>
            <a:spLocks noGrp="1"/>
          </p:cNvSpPr>
          <p:nvPr/>
        </p:nvSpPr>
        <p:spPr>
          <a:xfrm>
            <a:off x="857250" y="17716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80E0FA9-D229-4054-B69C-9E428A3762B8}"/>
              </a:ext>
            </a:extLst>
          </p:cNvPr>
          <p:cNvSpPr>
            <a:spLocks noGrp="1"/>
          </p:cNvSpPr>
          <p:nvPr/>
        </p:nvSpPr>
        <p:spPr>
          <a:xfrm>
            <a:off x="1219200" y="179070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拉取数据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04D7005-71D3-4E5D-91C7-42DEBCA63ADC}"/>
              </a:ext>
            </a:extLst>
          </p:cNvPr>
          <p:cNvSpPr>
            <a:spLocks noGrp="1"/>
          </p:cNvSpPr>
          <p:nvPr/>
        </p:nvSpPr>
        <p:spPr>
          <a:xfrm>
            <a:off x="876300" y="217170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从 GitHub 获取 data/new_set.json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7D5806-D230-46FC-B0CF-1B2C471DE217}"/>
              </a:ext>
            </a:extLst>
          </p:cNvPr>
          <p:cNvSpPr>
            <a:spLocks noGrp="1"/>
          </p:cNvSpPr>
          <p:nvPr/>
        </p:nvSpPr>
        <p:spPr>
          <a:xfrm>
            <a:off x="2686050" y="201930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0891B2"/>
                </a:solidFill>
              </a:defRPr>
            </a:pPr>
            <a:r>
              <a:rPr sz="2400" b="1">
                <a:solidFill>
                  <a:srgbClr val="0891B2"/>
                </a:solidFill>
              </a:rPr>
              <a:t>→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F157D73-FDF2-403B-9B05-91F33E205DE6}"/>
              </a:ext>
            </a:extLst>
          </p:cNvPr>
          <p:cNvSpPr>
            <a:spLocks noGrp="1"/>
          </p:cNvSpPr>
          <p:nvPr/>
        </p:nvSpPr>
        <p:spPr>
          <a:xfrm>
            <a:off x="2895600" y="161925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5A2EC5D-5DBC-4C6A-92E6-28ABF2202FB5}"/>
              </a:ext>
            </a:extLst>
          </p:cNvPr>
          <p:cNvSpPr>
            <a:spLocks noGrp="1"/>
          </p:cNvSpPr>
          <p:nvPr/>
        </p:nvSpPr>
        <p:spPr>
          <a:xfrm>
            <a:off x="3067050" y="17716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BD49DA5-C5ED-4963-84ED-061B8DBEF4FB}"/>
              </a:ext>
            </a:extLst>
          </p:cNvPr>
          <p:cNvSpPr>
            <a:spLocks noGrp="1"/>
          </p:cNvSpPr>
          <p:nvPr/>
        </p:nvSpPr>
        <p:spPr>
          <a:xfrm>
            <a:off x="3429000" y="179070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补 rewrite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DE944F7-28A7-4EE4-BA21-58C060A0428C}"/>
              </a:ext>
            </a:extLst>
          </p:cNvPr>
          <p:cNvSpPr>
            <a:spLocks noGrp="1"/>
          </p:cNvSpPr>
          <p:nvPr/>
        </p:nvSpPr>
        <p:spPr>
          <a:xfrm>
            <a:off x="3086100" y="217170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脚本自动根据标注关系改写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E4B5100-533F-47A2-9D95-16112AB0BF8F}"/>
              </a:ext>
            </a:extLst>
          </p:cNvPr>
          <p:cNvSpPr>
            <a:spLocks noGrp="1"/>
          </p:cNvSpPr>
          <p:nvPr/>
        </p:nvSpPr>
        <p:spPr>
          <a:xfrm>
            <a:off x="4895850" y="201930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0891B2"/>
                </a:solidFill>
              </a:defRPr>
            </a:pPr>
            <a:r>
              <a:rPr sz="2400" b="1">
                <a:solidFill>
                  <a:srgbClr val="0891B2"/>
                </a:solidFill>
              </a:rPr>
              <a:t>→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9BF4B63-929C-4234-9FF3-5485AF2EFE4D}"/>
              </a:ext>
            </a:extLst>
          </p:cNvPr>
          <p:cNvSpPr>
            <a:spLocks noGrp="1"/>
          </p:cNvSpPr>
          <p:nvPr/>
        </p:nvSpPr>
        <p:spPr>
          <a:xfrm>
            <a:off x="5105400" y="161925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B01C6ED-DEBB-4097-9618-FF327F8E334B}"/>
              </a:ext>
            </a:extLst>
          </p:cNvPr>
          <p:cNvSpPr>
            <a:spLocks noGrp="1"/>
          </p:cNvSpPr>
          <p:nvPr/>
        </p:nvSpPr>
        <p:spPr>
          <a:xfrm>
            <a:off x="5276850" y="17716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193C131-FBC4-4064-8327-7CEE9AC074D7}"/>
              </a:ext>
            </a:extLst>
          </p:cNvPr>
          <p:cNvSpPr>
            <a:spLocks noGrp="1"/>
          </p:cNvSpPr>
          <p:nvPr/>
        </p:nvSpPr>
        <p:spPr>
          <a:xfrm>
            <a:off x="5638800" y="179070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生成 train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842398E-6100-4DE0-A1FB-9E24D67E2F17}"/>
              </a:ext>
            </a:extLst>
          </p:cNvPr>
          <p:cNvSpPr>
            <a:spLocks noGrp="1"/>
          </p:cNvSpPr>
          <p:nvPr/>
        </p:nvSpPr>
        <p:spPr>
          <a:xfrm>
            <a:off x="5295900" y="217170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输出 data/train.json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E9657A5-35EA-4FE5-819B-4E3EEF7C7691}"/>
              </a:ext>
            </a:extLst>
          </p:cNvPr>
          <p:cNvSpPr>
            <a:spLocks noGrp="1"/>
          </p:cNvSpPr>
          <p:nvPr/>
        </p:nvSpPr>
        <p:spPr>
          <a:xfrm>
            <a:off x="7105650" y="201930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0891B2"/>
                </a:solidFill>
              </a:defRPr>
            </a:pPr>
            <a:r>
              <a:rPr sz="2400" b="1">
                <a:solidFill>
                  <a:srgbClr val="0891B2"/>
                </a:solidFill>
              </a:rPr>
              <a:t>→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BA8BB740-146A-4AE5-9FB0-7BB2CEE91CAC}"/>
              </a:ext>
            </a:extLst>
          </p:cNvPr>
          <p:cNvSpPr>
            <a:spLocks noGrp="1"/>
          </p:cNvSpPr>
          <p:nvPr/>
        </p:nvSpPr>
        <p:spPr>
          <a:xfrm>
            <a:off x="7315200" y="161925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E7D0978-DFE4-4539-B856-33FA773361D7}"/>
              </a:ext>
            </a:extLst>
          </p:cNvPr>
          <p:cNvSpPr>
            <a:spLocks noGrp="1"/>
          </p:cNvSpPr>
          <p:nvPr/>
        </p:nvSpPr>
        <p:spPr>
          <a:xfrm>
            <a:off x="7486650" y="17716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E5B0287-1A4B-4EDE-AED5-488F5ED601CE}"/>
              </a:ext>
            </a:extLst>
          </p:cNvPr>
          <p:cNvSpPr>
            <a:spLocks noGrp="1"/>
          </p:cNvSpPr>
          <p:nvPr/>
        </p:nvSpPr>
        <p:spPr>
          <a:xfrm>
            <a:off x="7848600" y="179070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扩展词表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7B471FB-C4A2-4242-A591-D07A2CA1E08D}"/>
              </a:ext>
            </a:extLst>
          </p:cNvPr>
          <p:cNvSpPr>
            <a:spLocks noGrp="1"/>
          </p:cNvSpPr>
          <p:nvPr/>
        </p:nvSpPr>
        <p:spPr>
          <a:xfrm>
            <a:off x="7505700" y="217170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并入 pronoun / antecedent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E7F2554-C60E-4E15-9B9C-ED6F742DCAA2}"/>
              </a:ext>
            </a:extLst>
          </p:cNvPr>
          <p:cNvSpPr>
            <a:spLocks noGrp="1"/>
          </p:cNvSpPr>
          <p:nvPr/>
        </p:nvSpPr>
        <p:spPr>
          <a:xfrm>
            <a:off x="9315450" y="201930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0891B2"/>
                </a:solidFill>
              </a:defRPr>
            </a:pPr>
            <a:r>
              <a:rPr sz="2400" b="1">
                <a:solidFill>
                  <a:srgbClr val="0891B2"/>
                </a:solidFill>
              </a:rPr>
              <a:t>→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E78003CF-FCF5-4C0C-AA0C-9025F037D87C}"/>
              </a:ext>
            </a:extLst>
          </p:cNvPr>
          <p:cNvSpPr>
            <a:spLocks noGrp="1"/>
          </p:cNvSpPr>
          <p:nvPr/>
        </p:nvSpPr>
        <p:spPr>
          <a:xfrm>
            <a:off x="9525000" y="1619250"/>
            <a:ext cx="1981200" cy="1143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BA93EFC-6EE4-40DD-9427-B4B615C55912}"/>
              </a:ext>
            </a:extLst>
          </p:cNvPr>
          <p:cNvSpPr>
            <a:spLocks noGrp="1"/>
          </p:cNvSpPr>
          <p:nvPr/>
        </p:nvSpPr>
        <p:spPr>
          <a:xfrm>
            <a:off x="9696450" y="17716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5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3659C38-39FC-45E5-B91E-FF4C0F505C0A}"/>
              </a:ext>
            </a:extLst>
          </p:cNvPr>
          <p:cNvSpPr>
            <a:spLocks noGrp="1"/>
          </p:cNvSpPr>
          <p:nvPr/>
        </p:nvSpPr>
        <p:spPr>
          <a:xfrm>
            <a:off x="10058400" y="1790700"/>
            <a:ext cx="1314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重新评估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0D00958-59CD-460E-AF90-50A06F04EB6F}"/>
              </a:ext>
            </a:extLst>
          </p:cNvPr>
          <p:cNvSpPr>
            <a:spLocks noGrp="1"/>
          </p:cNvSpPr>
          <p:nvPr/>
        </p:nvSpPr>
        <p:spPr>
          <a:xfrm>
            <a:off x="9715500" y="2171700"/>
            <a:ext cx="16002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生成错误分析报告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C3BF96D-32AD-4456-9610-24851037221C}"/>
              </a:ext>
            </a:extLst>
          </p:cNvPr>
          <p:cNvSpPr>
            <a:spLocks noGrp="1"/>
          </p:cNvSpPr>
          <p:nvPr/>
        </p:nvSpPr>
        <p:spPr>
          <a:xfrm>
            <a:off x="1123950" y="4095750"/>
            <a:ext cx="9906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725" b="1">
                <a:solidFill>
                  <a:srgbClr val="334155"/>
                </a:solidFill>
              </a:defRPr>
            </a:pPr>
            <a:r>
              <a:rPr sz="1725" b="1">
                <a:solidFill>
                  <a:srgbClr val="334155"/>
                </a:solidFill>
              </a:rPr>
              <a:t>对应脚本：scripts/prepare_training_data.py 与 scripts/analyze_training_errors.py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EC4983-10FC-4E23-9AFB-2ADF32026A58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8/14</a:t>
            </a:r>
          </a:p>
        </p:txBody>
      </p:sp>
    </p:spTree>
    <p:extLst>
      <p:ext uri="{BB962C8B-B14F-4D97-AF65-F5344CB8AC3E}">
        <p14:creationId xmlns:p14="http://schemas.microsoft.com/office/powerpoint/2010/main" val="755292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9825B78-EF5A-4CF7-9F6A-F829AD85C38C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实验结果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76C612-D597-4934-BA63-FED8900B890F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训练集表现提升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="1238250" y="1666875"/>
          <a:ext cx="4762500" cy="3238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矩形: 圆角 3">
            <a:extLst>
              <a:ext uri="{FF2B5EF4-FFF2-40B4-BE49-F238E27FC236}">
                <a16:creationId xmlns:a16="http://schemas.microsoft.com/office/drawing/2014/main" id="{6BE6686A-F3AA-4178-B776-572247E2DC48}"/>
              </a:ext>
            </a:extLst>
          </p:cNvPr>
          <p:cNvSpPr>
            <a:spLocks noGrp="1"/>
          </p:cNvSpPr>
          <p:nvPr/>
        </p:nvSpPr>
        <p:spPr>
          <a:xfrm>
            <a:off x="6953250" y="1695450"/>
            <a:ext cx="3048000" cy="161925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3DFAC4-A17C-412B-ADFE-E409077755DD}"/>
              </a:ext>
            </a:extLst>
          </p:cNvPr>
          <p:cNvSpPr>
            <a:spLocks noGrp="1"/>
          </p:cNvSpPr>
          <p:nvPr/>
        </p:nvSpPr>
        <p:spPr>
          <a:xfrm>
            <a:off x="7162800" y="1905000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+0.0802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1FB5CDD-E915-46BF-A66D-44C061228E75}"/>
              </a:ext>
            </a:extLst>
          </p:cNvPr>
          <p:cNvSpPr>
            <a:spLocks noGrp="1"/>
          </p:cNvSpPr>
          <p:nvPr/>
        </p:nvSpPr>
        <p:spPr>
          <a:xfrm>
            <a:off x="71628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F1 提升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60C1185-7D55-48FB-A653-13F77DF358D6}"/>
              </a:ext>
            </a:extLst>
          </p:cNvPr>
          <p:cNvSpPr>
            <a:spLocks noGrp="1"/>
          </p:cNvSpPr>
          <p:nvPr/>
        </p:nvSpPr>
        <p:spPr>
          <a:xfrm>
            <a:off x="7162800" y="2800350"/>
            <a:ext cx="262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组织指代表达带来主要增益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A9B6AA55-A66F-45A6-B205-BED92CEAEF7A}"/>
              </a:ext>
            </a:extLst>
          </p:cNvPr>
          <p:cNvSpPr>
            <a:spLocks noGrp="1"/>
          </p:cNvSpPr>
          <p:nvPr/>
        </p:nvSpPr>
        <p:spPr>
          <a:xfrm>
            <a:off x="6953250" y="3581400"/>
            <a:ext cx="3048000" cy="161925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BE06A31-26CA-4E3E-B884-A169C0F090BB}"/>
              </a:ext>
            </a:extLst>
          </p:cNvPr>
          <p:cNvSpPr>
            <a:spLocks noGrp="1"/>
          </p:cNvSpPr>
          <p:nvPr/>
        </p:nvSpPr>
        <p:spPr>
          <a:xfrm>
            <a:off x="7162800" y="3790950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34 → 21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FABE185-9279-47BC-97C7-23FC8C1E90C8}"/>
              </a:ext>
            </a:extLst>
          </p:cNvPr>
          <p:cNvSpPr>
            <a:spLocks noGrp="1"/>
          </p:cNvSpPr>
          <p:nvPr/>
        </p:nvSpPr>
        <p:spPr>
          <a:xfrm>
            <a:off x="7162800" y="432435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错误减少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63D9B8B-A36B-4462-BFFE-19FB8F761504}"/>
              </a:ext>
            </a:extLst>
          </p:cNvPr>
          <p:cNvSpPr>
            <a:spLocks noGrp="1"/>
          </p:cNvSpPr>
          <p:nvPr/>
        </p:nvSpPr>
        <p:spPr>
          <a:xfrm>
            <a:off x="7162800" y="4686300"/>
            <a:ext cx="26289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错误样本减少 13 个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DF5F044-2D2F-41D1-9EA7-7C63FDDD7D9E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9/14</a:t>
            </a:r>
          </a:p>
        </p:txBody>
      </p:sp>
    </p:spTree>
    <p:extLst>
      <p:ext uri="{BB962C8B-B14F-4D97-AF65-F5344CB8AC3E}">
        <p14:creationId xmlns:p14="http://schemas.microsoft.com/office/powerpoint/2010/main" val="982288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042902AC-564D-4483-88EC-151C6EF984AC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错误分析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456F67D-0EFA-4257-9A19-B4C7C0DCE893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错误类型分布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="1047750" y="1543050"/>
          <a:ext cx="5810250" cy="3714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F0D4BAFE-E931-473E-84B1-EC28EEA3C305}"/>
              </a:ext>
            </a:extLst>
          </p:cNvPr>
          <p:cNvSpPr>
            <a:spLocks noGrp="1"/>
          </p:cNvSpPr>
          <p:nvPr/>
        </p:nvSpPr>
        <p:spPr>
          <a:xfrm>
            <a:off x="7524750" y="1809750"/>
            <a:ext cx="32385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• 最大问题不是单一模型失败，而是多类语言现象混合。</a:t>
            </a:r>
          </a:p>
          <a:p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• 标注粒度不一致会直接影响指标。</a:t>
            </a:r>
          </a:p>
          <a:p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• 多人物同形代词需要位置级评估与语义角色信息。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EE4F4C8-67C9-41D5-8FB7-27263872587F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10/14</a:t>
            </a:r>
          </a:p>
        </p:txBody>
      </p:sp>
    </p:spTree>
    <p:extLst>
      <p:ext uri="{BB962C8B-B14F-4D97-AF65-F5344CB8AC3E}">
        <p14:creationId xmlns:p14="http://schemas.microsoft.com/office/powerpoint/2010/main" val="422231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5CF83D95-1FE0-4FC6-AC56-7332E70107E4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案例复盘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CEFB1A-F5A8-4A2A-A855-14C37DD7F08A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典型错误样本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B667638-EAA7-40FF-BDB5-396A2397D5B8}"/>
              </a:ext>
            </a:extLst>
          </p:cNvPr>
          <p:cNvSpPr>
            <a:spLocks noGrp="1"/>
          </p:cNvSpPr>
          <p:nvPr/>
        </p:nvSpPr>
        <p:spPr>
          <a:xfrm>
            <a:off x="819150" y="1543050"/>
            <a:ext cx="105537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53443E-9E93-4D18-BA7E-F9AA5E1DB516}"/>
              </a:ext>
            </a:extLst>
          </p:cNvPr>
          <p:cNvSpPr>
            <a:spLocks noGrp="1"/>
          </p:cNvSpPr>
          <p:nvPr/>
        </p:nvSpPr>
        <p:spPr>
          <a:xfrm>
            <a:off x="933450" y="165735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类型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3D6D91-F72C-415F-90AD-13A047575E0D}"/>
              </a:ext>
            </a:extLst>
          </p:cNvPr>
          <p:cNvSpPr>
            <a:spLocks noGrp="1"/>
          </p:cNvSpPr>
          <p:nvPr/>
        </p:nvSpPr>
        <p:spPr>
          <a:xfrm>
            <a:off x="2362200" y="1657350"/>
            <a:ext cx="472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样本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F44750E-72A6-433E-8311-7EE4A9956106}"/>
              </a:ext>
            </a:extLst>
          </p:cNvPr>
          <p:cNvSpPr>
            <a:spLocks noGrp="1"/>
          </p:cNvSpPr>
          <p:nvPr/>
        </p:nvSpPr>
        <p:spPr>
          <a:xfrm>
            <a:off x="7315200" y="1657350"/>
            <a:ext cx="3943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问题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6E87D2D-FABC-4226-8228-60D0DCDB0E36}"/>
              </a:ext>
            </a:extLst>
          </p:cNvPr>
          <p:cNvSpPr>
            <a:spLocks noGrp="1"/>
          </p:cNvSpPr>
          <p:nvPr/>
        </p:nvSpPr>
        <p:spPr>
          <a:xfrm>
            <a:off x="828675" y="2000250"/>
            <a:ext cx="105346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F31401E-14B4-4FEA-8D8F-3B4404219F7E}"/>
              </a:ext>
            </a:extLst>
          </p:cNvPr>
          <p:cNvSpPr>
            <a:spLocks noGrp="1"/>
          </p:cNvSpPr>
          <p:nvPr/>
        </p:nvSpPr>
        <p:spPr>
          <a:xfrm>
            <a:off x="933450" y="211455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多人物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4C802B7-B207-44BA-8957-A05663CEEEB1}"/>
              </a:ext>
            </a:extLst>
          </p:cNvPr>
          <p:cNvSpPr>
            <a:spLocks noGrp="1"/>
          </p:cNvSpPr>
          <p:nvPr/>
        </p:nvSpPr>
        <p:spPr>
          <a:xfrm>
            <a:off x="2362200" y="2114550"/>
            <a:ext cx="472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小美会见小刚，他对她说话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7665904-C28C-4DEE-ABB6-67649310C9B6}"/>
              </a:ext>
            </a:extLst>
          </p:cNvPr>
          <p:cNvSpPr>
            <a:spLocks noGrp="1"/>
          </p:cNvSpPr>
          <p:nvPr/>
        </p:nvSpPr>
        <p:spPr>
          <a:xfrm>
            <a:off x="7315200" y="2114550"/>
            <a:ext cx="3943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角色可反转，需语义判断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B79766F-E58B-4196-8525-9E413F030327}"/>
              </a:ext>
            </a:extLst>
          </p:cNvPr>
          <p:cNvSpPr>
            <a:spLocks noGrp="1"/>
          </p:cNvSpPr>
          <p:nvPr/>
        </p:nvSpPr>
        <p:spPr>
          <a:xfrm>
            <a:off x="828675" y="2457450"/>
            <a:ext cx="105346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B7B3EAC-E37C-4AB7-9970-95D033725833}"/>
              </a:ext>
            </a:extLst>
          </p:cNvPr>
          <p:cNvSpPr>
            <a:spLocks noGrp="1"/>
          </p:cNvSpPr>
          <p:nvPr/>
        </p:nvSpPr>
        <p:spPr>
          <a:xfrm>
            <a:off x="933450" y="257175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称谓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FCE36A9-7FFE-44F8-A64A-2A8A3E2A2890}"/>
              </a:ext>
            </a:extLst>
          </p:cNvPr>
          <p:cNvSpPr>
            <a:spLocks noGrp="1"/>
          </p:cNvSpPr>
          <p:nvPr/>
        </p:nvSpPr>
        <p:spPr>
          <a:xfrm>
            <a:off x="2362200" y="2571750"/>
            <a:ext cx="472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孔子问子路，弟子回答老师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3C1CC9E-AAF8-44BE-B322-B68C25EE1941}"/>
              </a:ext>
            </a:extLst>
          </p:cNvPr>
          <p:cNvSpPr>
            <a:spLocks noGrp="1"/>
          </p:cNvSpPr>
          <p:nvPr/>
        </p:nvSpPr>
        <p:spPr>
          <a:xfrm>
            <a:off x="7315200" y="2571750"/>
            <a:ext cx="3943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老师/弟子依赖身份知识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6203964-9767-4FCB-A0EA-F367063311D9}"/>
              </a:ext>
            </a:extLst>
          </p:cNvPr>
          <p:cNvSpPr>
            <a:spLocks noGrp="1"/>
          </p:cNvSpPr>
          <p:nvPr/>
        </p:nvSpPr>
        <p:spPr>
          <a:xfrm>
            <a:off x="828675" y="2914650"/>
            <a:ext cx="105346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4D4DBD4-6E39-4E33-B9F4-4FBEEF6A23DD}"/>
              </a:ext>
            </a:extLst>
          </p:cNvPr>
          <p:cNvSpPr>
            <a:spLocks noGrp="1"/>
          </p:cNvSpPr>
          <p:nvPr/>
        </p:nvSpPr>
        <p:spPr>
          <a:xfrm>
            <a:off x="933450" y="302895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粒度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E0EA133-171B-466F-B809-DE272B3EC672}"/>
              </a:ext>
            </a:extLst>
          </p:cNvPr>
          <p:cNvSpPr>
            <a:spLocks noGrp="1"/>
          </p:cNvSpPr>
          <p:nvPr/>
        </p:nvSpPr>
        <p:spPr>
          <a:xfrm>
            <a:off x="2362200" y="3028950"/>
            <a:ext cx="472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它们 -&gt; 稻穗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97FCFC2-D4C1-498C-8E37-71D8EC348604}"/>
              </a:ext>
            </a:extLst>
          </p:cNvPr>
          <p:cNvSpPr>
            <a:spLocks noGrp="1"/>
          </p:cNvSpPr>
          <p:nvPr/>
        </p:nvSpPr>
        <p:spPr>
          <a:xfrm>
            <a:off x="7315200" y="3028950"/>
            <a:ext cx="3943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gold 写作“它”，原文为“它们”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15FBBBC-1663-49DE-8A35-C2608819D7DF}"/>
              </a:ext>
            </a:extLst>
          </p:cNvPr>
          <p:cNvSpPr>
            <a:spLocks noGrp="1"/>
          </p:cNvSpPr>
          <p:nvPr/>
        </p:nvSpPr>
        <p:spPr>
          <a:xfrm>
            <a:off x="828675" y="3371850"/>
            <a:ext cx="105346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7A97B34-5444-4871-A52C-58468CE5C73E}"/>
              </a:ext>
            </a:extLst>
          </p:cNvPr>
          <p:cNvSpPr>
            <a:spLocks noGrp="1"/>
          </p:cNvSpPr>
          <p:nvPr/>
        </p:nvSpPr>
        <p:spPr>
          <a:xfrm>
            <a:off x="933450" y="348615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组织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7633688-1914-4701-93F6-6624CE969BC9}"/>
              </a:ext>
            </a:extLst>
          </p:cNvPr>
          <p:cNvSpPr>
            <a:spLocks noGrp="1"/>
          </p:cNvSpPr>
          <p:nvPr/>
        </p:nvSpPr>
        <p:spPr>
          <a:xfrm>
            <a:off x="2362200" y="3486150"/>
            <a:ext cx="472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该院 -&gt; 博物院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6E7CC47-6C04-4492-9431-D1B4F4405AF6}"/>
              </a:ext>
            </a:extLst>
          </p:cNvPr>
          <p:cNvSpPr>
            <a:spLocks noGrp="1"/>
          </p:cNvSpPr>
          <p:nvPr/>
        </p:nvSpPr>
        <p:spPr>
          <a:xfrm>
            <a:off x="7315200" y="3486150"/>
            <a:ext cx="3943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候选过近导致偏向展品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EBD28E8-D88B-49F3-8198-7CDA8A17D080}"/>
              </a:ext>
            </a:extLst>
          </p:cNvPr>
          <p:cNvSpPr>
            <a:spLocks noGrp="1"/>
          </p:cNvSpPr>
          <p:nvPr/>
        </p:nvSpPr>
        <p:spPr>
          <a:xfrm>
            <a:off x="828675" y="3829050"/>
            <a:ext cx="105346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07BCA63-533C-45F1-A970-64D34E18FDE9}"/>
              </a:ext>
            </a:extLst>
          </p:cNvPr>
          <p:cNvSpPr>
            <a:spLocks noGrp="1"/>
          </p:cNvSpPr>
          <p:nvPr/>
        </p:nvSpPr>
        <p:spPr>
          <a:xfrm>
            <a:off x="933450" y="394335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过度预测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622F2DE-7F7C-4895-82E4-2BD201D41C4C}"/>
              </a:ext>
            </a:extLst>
          </p:cNvPr>
          <p:cNvSpPr>
            <a:spLocks noGrp="1"/>
          </p:cNvSpPr>
          <p:nvPr/>
        </p:nvSpPr>
        <p:spPr>
          <a:xfrm>
            <a:off x="2362200" y="3943350"/>
            <a:ext cx="472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鲁迅写下了它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94DEF75-CE58-42D0-9597-3087B8973B29}"/>
              </a:ext>
            </a:extLst>
          </p:cNvPr>
          <p:cNvSpPr>
            <a:spLocks noGrp="1"/>
          </p:cNvSpPr>
          <p:nvPr/>
        </p:nvSpPr>
        <p:spPr>
          <a:xfrm>
            <a:off x="7315200" y="3943350"/>
            <a:ext cx="3943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上下文没有 gold 指代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694CDD8-6F55-452E-9832-7E10BD935955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11/14</a:t>
            </a:r>
          </a:p>
        </p:txBody>
      </p:sp>
    </p:spTree>
    <p:extLst>
      <p:ext uri="{BB962C8B-B14F-4D97-AF65-F5344CB8AC3E}">
        <p14:creationId xmlns:p14="http://schemas.microsoft.com/office/powerpoint/2010/main" val="1625842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2B4FC05D-07E3-4C08-9FC8-4BDA1445B430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成果展示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9F62DD4-0DA4-400D-8BB7-BBF24B19AC6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Web Demo 与部署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B6982B2-6A30-4224-A8A2-742F1E7FDED2}"/>
              </a:ext>
            </a:extLst>
          </p:cNvPr>
          <p:cNvSpPr>
            <a:spLocks noGrp="1"/>
          </p:cNvSpPr>
          <p:nvPr/>
        </p:nvSpPr>
        <p:spPr>
          <a:xfrm>
            <a:off x="876300" y="1619250"/>
            <a:ext cx="485775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334155"/>
                </a:solidFill>
              </a:defRPr>
            </a:pPr>
            <a:r>
              <a:rPr sz="1725" b="0">
                <a:solidFill>
                  <a:srgbClr val="334155"/>
                </a:solidFill>
              </a:rPr>
              <a:t>• 页面输入一句中文文本，点击开始分析。</a:t>
            </a:r>
          </a:p>
          <a:p>
            <a:pPr algn="l">
              <a:defRPr sz="1725" b="0">
                <a:solidFill>
                  <a:srgbClr val="334155"/>
                </a:solidFill>
              </a:defRPr>
            </a:pPr>
            <a:r>
              <a:rPr sz="1725" b="0">
                <a:solidFill>
                  <a:srgbClr val="334155"/>
                </a:solidFill>
              </a:rPr>
              <a:t>• 展示原文高亮、候选实体、代词、关系表、候选得分。</a:t>
            </a:r>
          </a:p>
          <a:p>
            <a:pPr algn="l">
              <a:defRPr sz="1725" b="0">
                <a:solidFill>
                  <a:srgbClr val="334155"/>
                </a:solidFill>
              </a:defRPr>
            </a:pPr>
            <a:r>
              <a:rPr sz="1725" b="0">
                <a:solidFill>
                  <a:srgbClr val="334155"/>
                </a:solidFill>
              </a:rPr>
              <a:t>• 歧义样本会提示人工确认，并跳过自动改写。</a:t>
            </a:r>
          </a:p>
          <a:p>
            <a:pPr algn="l">
              <a:defRPr sz="1725" b="0">
                <a:solidFill>
                  <a:srgbClr val="334155"/>
                </a:solidFill>
              </a:defRPr>
            </a:pPr>
            <a:r>
              <a:rPr sz="1725" b="0">
                <a:solidFill>
                  <a:srgbClr val="334155"/>
                </a:solidFill>
              </a:rPr>
              <a:t>• 云服务器可通过公网 IP + 8501 临时展示，正式版可接 Nginx。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153FFDD-5EA2-4559-9AED-0BDFE28F0A06}"/>
              </a:ext>
            </a:extLst>
          </p:cNvPr>
          <p:cNvSpPr>
            <a:spLocks noGrp="1"/>
          </p:cNvSpPr>
          <p:nvPr/>
        </p:nvSpPr>
        <p:spPr>
          <a:xfrm>
            <a:off x="6572250" y="1562100"/>
            <a:ext cx="4095750" cy="2857500"/>
          </a:xfrm>
          <a:prstGeom prst="roundRect">
            <a:avLst>
              <a:gd name="adj" fmla="val 2667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69374A-B00D-44D4-9307-60CE3EE22F0C}"/>
              </a:ext>
            </a:extLst>
          </p:cNvPr>
          <p:cNvSpPr>
            <a:spLocks noGrp="1"/>
          </p:cNvSpPr>
          <p:nvPr/>
        </p:nvSpPr>
        <p:spPr>
          <a:xfrm>
            <a:off x="6896100" y="1866900"/>
            <a:ext cx="190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6A34A"/>
                </a:solidFill>
              </a:defRPr>
            </a:pPr>
            <a:r>
              <a:rPr sz="1950" b="1">
                <a:solidFill>
                  <a:srgbClr val="16A34A"/>
                </a:solidFill>
              </a:rPr>
              <a:t>部署路径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9364CEE-4303-4E4B-B8A5-CFAD4CA3DFAB}"/>
              </a:ext>
            </a:extLst>
          </p:cNvPr>
          <p:cNvSpPr>
            <a:spLocks noGrp="1"/>
          </p:cNvSpPr>
          <p:nvPr/>
        </p:nvSpPr>
        <p:spPr>
          <a:xfrm>
            <a:off x="6896100" y="2400300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GitHub</a:t>
            </a:r>
          </a:p>
          <a:p>
            <a:pPr algn="ctr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→ 云服务器</a:t>
            </a:r>
          </a:p>
          <a:p>
            <a:pPr algn="ctr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→ Streamlit</a:t>
            </a:r>
          </a:p>
          <a:p>
            <a:pPr algn="ctr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→ 浏览器展示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680EC27-B09A-4584-B4DE-8BA8CF91ED93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12/14</a:t>
            </a:r>
          </a:p>
        </p:txBody>
      </p:sp>
    </p:spTree>
    <p:extLst>
      <p:ext uri="{BB962C8B-B14F-4D97-AF65-F5344CB8AC3E}">
        <p14:creationId xmlns:p14="http://schemas.microsoft.com/office/powerpoint/2010/main" val="732198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66EC9E5C-3DA0-4687-BAB9-10D822029A55}"/>
              </a:ext>
            </a:extLst>
          </p:cNvPr>
          <p:cNvSpPr>
            <a:spLocks noGrp="1"/>
          </p:cNvSpPr>
          <p:nvPr/>
        </p:nvSpPr>
        <p:spPr>
          <a:xfrm>
            <a:off x="685800" y="342900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进阶方向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964103-C88C-4738-A024-923B8F9985B0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下一步：从规则到语义模型</a:t>
            </a: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36E94ED-6027-46B9-83D8-B44E894438A1}"/>
              </a:ext>
            </a:extLst>
          </p:cNvPr>
          <p:cNvSpPr>
            <a:spLocks noGrp="1"/>
          </p:cNvSpPr>
          <p:nvPr/>
        </p:nvSpPr>
        <p:spPr>
          <a:xfrm>
            <a:off x="838200" y="1581150"/>
            <a:ext cx="10515600" cy="232410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5CE1632-7D1F-4B70-ACD9-28D2D1455B0B}"/>
              </a:ext>
            </a:extLst>
          </p:cNvPr>
          <p:cNvSpPr>
            <a:spLocks noGrp="1"/>
          </p:cNvSpPr>
          <p:nvPr/>
        </p:nvSpPr>
        <p:spPr>
          <a:xfrm>
            <a:off x="952500" y="1695450"/>
            <a:ext cx="1866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方向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547FFC7-F56B-4C4E-92E8-9AB4376E3150}"/>
              </a:ext>
            </a:extLst>
          </p:cNvPr>
          <p:cNvSpPr>
            <a:spLocks noGrp="1"/>
          </p:cNvSpPr>
          <p:nvPr/>
        </p:nvSpPr>
        <p:spPr>
          <a:xfrm>
            <a:off x="3048000" y="1695450"/>
            <a:ext cx="3390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价值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242137B-8207-4347-B108-C73301B05420}"/>
              </a:ext>
            </a:extLst>
          </p:cNvPr>
          <p:cNvSpPr>
            <a:spLocks noGrp="1"/>
          </p:cNvSpPr>
          <p:nvPr/>
        </p:nvSpPr>
        <p:spPr>
          <a:xfrm>
            <a:off x="6667500" y="16954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实现方式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64E91FA-C0A2-4149-8F8C-A232CA2926EC}"/>
              </a:ext>
            </a:extLst>
          </p:cNvPr>
          <p:cNvSpPr>
            <a:spLocks noGrp="1"/>
          </p:cNvSpPr>
          <p:nvPr/>
        </p:nvSpPr>
        <p:spPr>
          <a:xfrm>
            <a:off x="847725" y="2038350"/>
            <a:ext cx="104965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EA71D4C-4061-4CFC-8B19-B9CDC0609843}"/>
              </a:ext>
            </a:extLst>
          </p:cNvPr>
          <p:cNvSpPr>
            <a:spLocks noGrp="1"/>
          </p:cNvSpPr>
          <p:nvPr/>
        </p:nvSpPr>
        <p:spPr>
          <a:xfrm>
            <a:off x="952500" y="2152650"/>
            <a:ext cx="1866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Span 级评估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BB58E3C-1F90-4FF3-9824-F7FE01CE3247}"/>
              </a:ext>
            </a:extLst>
          </p:cNvPr>
          <p:cNvSpPr>
            <a:spLocks noGrp="1"/>
          </p:cNvSpPr>
          <p:nvPr/>
        </p:nvSpPr>
        <p:spPr>
          <a:xfrm>
            <a:off x="3048000" y="2152650"/>
            <a:ext cx="3390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解决同形代词混淆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814546E-52AB-49E6-A36D-73B3B64CA683}"/>
              </a:ext>
            </a:extLst>
          </p:cNvPr>
          <p:cNvSpPr>
            <a:spLocks noGrp="1"/>
          </p:cNvSpPr>
          <p:nvPr/>
        </p:nvSpPr>
        <p:spPr>
          <a:xfrm>
            <a:off x="6667500" y="21526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记录 pronoun_start / antecedent_start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634E9EB-5928-4BCC-88FE-2FBAC157EFF5}"/>
              </a:ext>
            </a:extLst>
          </p:cNvPr>
          <p:cNvSpPr>
            <a:spLocks noGrp="1"/>
          </p:cNvSpPr>
          <p:nvPr/>
        </p:nvSpPr>
        <p:spPr>
          <a:xfrm>
            <a:off x="847725" y="2495550"/>
            <a:ext cx="104965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1FCF1F7-0390-489B-A5DE-0D2B8F3B2AB0}"/>
              </a:ext>
            </a:extLst>
          </p:cNvPr>
          <p:cNvSpPr>
            <a:spLocks noGrp="1"/>
          </p:cNvSpPr>
          <p:nvPr/>
        </p:nvSpPr>
        <p:spPr>
          <a:xfrm>
            <a:off x="952500" y="2609850"/>
            <a:ext cx="1866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语义相似度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6F71881-1FC8-4281-96F6-0FB18EF7DF5F}"/>
              </a:ext>
            </a:extLst>
          </p:cNvPr>
          <p:cNvSpPr>
            <a:spLocks noGrp="1"/>
          </p:cNvSpPr>
          <p:nvPr/>
        </p:nvSpPr>
        <p:spPr>
          <a:xfrm>
            <a:off x="3048000" y="2609850"/>
            <a:ext cx="3390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减少近距离误判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933929D-59CF-4F1A-9EC9-33978E940434}"/>
              </a:ext>
            </a:extLst>
          </p:cNvPr>
          <p:cNvSpPr>
            <a:spLocks noGrp="1"/>
          </p:cNvSpPr>
          <p:nvPr/>
        </p:nvSpPr>
        <p:spPr>
          <a:xfrm>
            <a:off x="6667500" y="26098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BERT / sentence-transformers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B2454FB-B4D2-4404-9827-F3355DCD4B98}"/>
              </a:ext>
            </a:extLst>
          </p:cNvPr>
          <p:cNvSpPr>
            <a:spLocks noGrp="1"/>
          </p:cNvSpPr>
          <p:nvPr/>
        </p:nvSpPr>
        <p:spPr>
          <a:xfrm>
            <a:off x="847725" y="2952750"/>
            <a:ext cx="104965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ADC7E89-BA94-4D9B-9F82-121DE4C5845A}"/>
              </a:ext>
            </a:extLst>
          </p:cNvPr>
          <p:cNvSpPr>
            <a:spLocks noGrp="1"/>
          </p:cNvSpPr>
          <p:nvPr/>
        </p:nvSpPr>
        <p:spPr>
          <a:xfrm>
            <a:off x="952500" y="3067050"/>
            <a:ext cx="1866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角色识别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0C61760-8FC5-46AB-A933-D2F36A5B485A}"/>
              </a:ext>
            </a:extLst>
          </p:cNvPr>
          <p:cNvSpPr>
            <a:spLocks noGrp="1"/>
          </p:cNvSpPr>
          <p:nvPr/>
        </p:nvSpPr>
        <p:spPr>
          <a:xfrm>
            <a:off x="3048000" y="3067050"/>
            <a:ext cx="3390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处理“他说/他问/他嘱咐”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888F64C-1BBA-46D6-A8E7-8F943BE044EC}"/>
              </a:ext>
            </a:extLst>
          </p:cNvPr>
          <p:cNvSpPr>
            <a:spLocks noGrp="1"/>
          </p:cNvSpPr>
          <p:nvPr/>
        </p:nvSpPr>
        <p:spPr>
          <a:xfrm>
            <a:off x="6667500" y="30670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依存句法或事件模板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05D604C-A05B-4960-A848-A67C56D3E2E1}"/>
              </a:ext>
            </a:extLst>
          </p:cNvPr>
          <p:cNvSpPr>
            <a:spLocks noGrp="1"/>
          </p:cNvSpPr>
          <p:nvPr/>
        </p:nvSpPr>
        <p:spPr>
          <a:xfrm>
            <a:off x="847725" y="3409950"/>
            <a:ext cx="10496550" cy="9525"/>
          </a:xfrm>
          <a:prstGeom prst="rect">
            <a:avLst/>
          </a:prstGeom>
          <a:solidFill>
            <a:srgbClr val="E2E8F0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BB97BF1-1248-4F94-B8C3-9B613F3A3D91}"/>
              </a:ext>
            </a:extLst>
          </p:cNvPr>
          <p:cNvSpPr>
            <a:spLocks noGrp="1"/>
          </p:cNvSpPr>
          <p:nvPr/>
        </p:nvSpPr>
        <p:spPr>
          <a:xfrm>
            <a:off x="952500" y="3524250"/>
            <a:ext cx="1866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F172A"/>
                </a:solidFill>
              </a:defRPr>
            </a:pPr>
            <a:r>
              <a:rPr sz="1200" b="1">
                <a:solidFill>
                  <a:srgbClr val="0F172A"/>
                </a:solidFill>
              </a:rPr>
              <a:t>标注规范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55FC79A-EC0D-41E8-BAFB-6FFAE2AAEA08}"/>
              </a:ext>
            </a:extLst>
          </p:cNvPr>
          <p:cNvSpPr>
            <a:spLocks noGrp="1"/>
          </p:cNvSpPr>
          <p:nvPr/>
        </p:nvSpPr>
        <p:spPr>
          <a:xfrm>
            <a:off x="3048000" y="3524250"/>
            <a:ext cx="3390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减少它/它们粒度误差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1C57587-3E3E-4663-B546-1C5BC8BEC136}"/>
              </a:ext>
            </a:extLst>
          </p:cNvPr>
          <p:cNvSpPr>
            <a:spLocks noGrp="1"/>
          </p:cNvSpPr>
          <p:nvPr/>
        </p:nvSpPr>
        <p:spPr>
          <a:xfrm>
            <a:off x="6667500" y="35242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rPr sz="1200" b="0">
                <a:solidFill>
                  <a:srgbClr val="475569"/>
                </a:solidFill>
              </a:rPr>
              <a:t>统一按原文完整 span 标注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AA2E345-4089-45A7-ACDB-375C68B02C33}"/>
              </a:ext>
            </a:extLst>
          </p:cNvPr>
          <p:cNvSpPr>
            <a:spLocks noGrp="1"/>
          </p:cNvSpPr>
          <p:nvPr/>
        </p:nvSpPr>
        <p:spPr>
          <a:xfrm>
            <a:off x="1371600" y="4762500"/>
            <a:ext cx="9144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2563EB"/>
                </a:solidFill>
              </a:defRPr>
            </a:pPr>
            <a:endParaRPr sz="1875" b="1" dirty="0">
              <a:solidFill>
                <a:srgbClr val="2563EB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DA00126-D3F7-4CE2-A17C-B75198097D8B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13/14</a:t>
            </a:r>
          </a:p>
        </p:txBody>
      </p:sp>
    </p:spTree>
    <p:extLst>
      <p:ext uri="{BB962C8B-B14F-4D97-AF65-F5344CB8AC3E}">
        <p14:creationId xmlns:p14="http://schemas.microsoft.com/office/powerpoint/2010/main" val="2115448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49BEAEA-DDC6-4F0B-8E9C-D4CCE2E77EDF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285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050" b="1">
                <a:solidFill>
                  <a:srgbClr val="0F172A"/>
                </a:solidFill>
              </a:defRPr>
            </a:pPr>
            <a:r>
              <a:rPr sz="4050" b="1">
                <a:solidFill>
                  <a:srgbClr val="0F172A"/>
                </a:solidFill>
              </a:rPr>
              <a:t>总结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149798-A7FE-4E84-97FE-50C2D7EB3BA8}"/>
              </a:ext>
            </a:extLst>
          </p:cNvPr>
          <p:cNvSpPr>
            <a:spLocks noGrp="1"/>
          </p:cNvSpPr>
          <p:nvPr/>
        </p:nvSpPr>
        <p:spPr>
          <a:xfrm>
            <a:off x="1066800" y="2000250"/>
            <a:ext cx="838200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334155"/>
                </a:solidFill>
              </a:defRPr>
            </a:pPr>
            <a:r>
              <a:rPr sz="1875" b="0">
                <a:solidFill>
                  <a:srgbClr val="334155"/>
                </a:solidFill>
              </a:rPr>
              <a:t>• 完成了中文指代消解、文本改写、可视化评估与云端展示闭环。</a:t>
            </a:r>
          </a:p>
          <a:p>
            <a:pPr algn="l">
              <a:defRPr sz="1875" b="0">
                <a:solidFill>
                  <a:srgbClr val="334155"/>
                </a:solidFill>
              </a:defRPr>
            </a:pPr>
            <a:r>
              <a:rPr sz="1875" b="0">
                <a:solidFill>
                  <a:srgbClr val="334155"/>
                </a:solidFill>
              </a:rPr>
              <a:t>• 新增 85 条标注数据，并自动生成 rewrite 与 train.json。</a:t>
            </a:r>
          </a:p>
          <a:p>
            <a:pPr algn="l">
              <a:defRPr sz="1875" b="0">
                <a:solidFill>
                  <a:srgbClr val="334155"/>
                </a:solidFill>
              </a:defRPr>
            </a:pPr>
            <a:r>
              <a:rPr sz="1875" b="0">
                <a:solidFill>
                  <a:srgbClr val="334155"/>
                </a:solidFill>
              </a:rPr>
              <a:t>• 通过组织指代增强，训练集 F1 提升到 0.8765。</a:t>
            </a:r>
          </a:p>
          <a:p>
            <a:pPr algn="l">
              <a:defRPr sz="1875" b="0">
                <a:solidFill>
                  <a:srgbClr val="334155"/>
                </a:solidFill>
              </a:defRPr>
            </a:pPr>
            <a:r>
              <a:rPr sz="1875" b="0">
                <a:solidFill>
                  <a:srgbClr val="334155"/>
                </a:solidFill>
              </a:rPr>
              <a:t>• 错误分析揭示了后续 BERT 语义匹配与 span 级评估的必要性。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011B9E5-6F56-40ED-850C-6A52FE64B2CE}"/>
              </a:ext>
            </a:extLst>
          </p:cNvPr>
          <p:cNvSpPr>
            <a:spLocks noGrp="1"/>
          </p:cNvSpPr>
          <p:nvPr/>
        </p:nvSpPr>
        <p:spPr>
          <a:xfrm>
            <a:off x="1066800" y="5048250"/>
            <a:ext cx="838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16A34A"/>
                </a:solidFill>
              </a:defRPr>
            </a:pPr>
            <a:r>
              <a:rPr sz="1950" b="1">
                <a:solidFill>
                  <a:srgbClr val="16A34A"/>
                </a:solidFill>
              </a:rPr>
              <a:t>从可解释 baseline 出发，逐步走向更真实的中文语义理解。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9A159EC-80B4-433D-859C-6D50E7C37A81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中文指代消解与句子改写系统  ·  14/14</a:t>
            </a:r>
          </a:p>
        </p:txBody>
      </p:sp>
    </p:spTree>
    <p:extLst>
      <p:ext uri="{BB962C8B-B14F-4D97-AF65-F5344CB8AC3E}">
        <p14:creationId xmlns:p14="http://schemas.microsoft.com/office/powerpoint/2010/main" val="51618523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550</Words>
  <Application>Microsoft Office PowerPoint</Application>
  <DocSecurity>0</DocSecurity>
  <PresentationFormat>宽屏</PresentationFormat>
  <Paragraphs>212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6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也可 郭</cp:lastModifiedBy>
  <cp:revision>2</cp:revision>
  <dcterms:created xsi:type="dcterms:W3CDTF">2026-06-21T17:07:29Z</dcterms:created>
  <dcterms:modified xsi:type="dcterms:W3CDTF">2026-06-21T17:20:09Z</dcterms:modified>
</cp:coreProperties>
</file>