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c3639e7b8941d0" /><Relationship Type="http://schemas.openxmlformats.org/officeDocument/2006/relationships/extended-properties" Target="/docProps/app.xml" Id="R7f624392906741f5" /><Relationship Type="http://schemas.openxmlformats.org/officeDocument/2006/relationships/officeDocument" Target="/ppt/presentation.xml" Id="R109876b064c24f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210884d2544dda"/>
  </p:sldMasterIdLst>
  <p:notesMasterIdLst>
    <p:notesMasterId xmlns:r="http://schemas.openxmlformats.org/officeDocument/2006/relationships" r:id="R6c87e35dccb749c4"/>
  </p:notesMasterIdLst>
  <p:sldIdLst>
    <p:sldId xmlns:r="http://schemas.openxmlformats.org/officeDocument/2006/relationships" id="256" r:id="Rd100acb026e6464e"/>
    <p:sldId xmlns:r="http://schemas.openxmlformats.org/officeDocument/2006/relationships" id="257" r:id="Ra9eeb3beebf14bf5"/>
    <p:sldId xmlns:r="http://schemas.openxmlformats.org/officeDocument/2006/relationships" id="258" r:id="R068473d0984242eb"/>
    <p:sldId xmlns:r="http://schemas.openxmlformats.org/officeDocument/2006/relationships" id="259" r:id="Rc12c4561b5df42c7"/>
    <p:sldId xmlns:r="http://schemas.openxmlformats.org/officeDocument/2006/relationships" id="260" r:id="R74a2c9ce52fd45ea"/>
    <p:sldId xmlns:r="http://schemas.openxmlformats.org/officeDocument/2006/relationships" id="261" r:id="Rae51bdfd7b8f4010"/>
    <p:sldId xmlns:r="http://schemas.openxmlformats.org/officeDocument/2006/relationships" id="262" r:id="R595d9727eb584d36"/>
    <p:sldId xmlns:r="http://schemas.openxmlformats.org/officeDocument/2006/relationships" id="263" r:id="R35f81299d3a34622"/>
    <p:sldId xmlns:r="http://schemas.openxmlformats.org/officeDocument/2006/relationships" id="264" r:id="Rb2b08a9504cc4bb5"/>
    <p:sldId xmlns:r="http://schemas.openxmlformats.org/officeDocument/2006/relationships" id="265" r:id="R8833c9196b884192"/>
    <p:sldId xmlns:r="http://schemas.openxmlformats.org/officeDocument/2006/relationships" id="266" r:id="R7528667062dc4b72"/>
    <p:sldId xmlns:r="http://schemas.openxmlformats.org/officeDocument/2006/relationships" id="267" r:id="Rd4deb8090e614410"/>
    <p:sldId xmlns:r="http://schemas.openxmlformats.org/officeDocument/2006/relationships" id="268" r:id="Rf278ce67fb214fdb"/>
    <p:sldId xmlns:r="http://schemas.openxmlformats.org/officeDocument/2006/relationships" id="269" r:id="Rde12ca483d854d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7171deeaa418e" /><Relationship Type="http://schemas.openxmlformats.org/officeDocument/2006/relationships/slideMaster" Target="/ppt/slideMasters/slideMaster1.xml" Id="R34210884d2544dda" /><Relationship Type="http://schemas.openxmlformats.org/officeDocument/2006/relationships/notesMaster" Target="/ppt/notesMasters/notesMaster1.xml" Id="R6c87e35dccb749c4" /><Relationship Type="http://schemas.openxmlformats.org/officeDocument/2006/relationships/presProps" Target="/ppt/presProps.xml" Id="Rd984c8b276474f59" /><Relationship Type="http://schemas.openxmlformats.org/officeDocument/2006/relationships/tableStyles" Target="/ppt/tableStyles.xml" Id="Rfb6a75a7cdf444a7" /><Relationship Type="http://schemas.openxmlformats.org/officeDocument/2006/relationships/slide" Target="/ppt/slides/slide1.xml" Id="Rd100acb026e6464e" /><Relationship Type="http://schemas.openxmlformats.org/officeDocument/2006/relationships/slide" Target="/ppt/slides/slide2.xml" Id="Ra9eeb3beebf14bf5" /><Relationship Type="http://schemas.openxmlformats.org/officeDocument/2006/relationships/slide" Target="/ppt/slides/slide3.xml" Id="R068473d0984242eb" /><Relationship Type="http://schemas.openxmlformats.org/officeDocument/2006/relationships/slide" Target="/ppt/slides/slide4.xml" Id="Rc12c4561b5df42c7" /><Relationship Type="http://schemas.openxmlformats.org/officeDocument/2006/relationships/slide" Target="/ppt/slides/slide5.xml" Id="R74a2c9ce52fd45ea" /><Relationship Type="http://schemas.openxmlformats.org/officeDocument/2006/relationships/slide" Target="/ppt/slides/slide6.xml" Id="Rae51bdfd7b8f4010" /><Relationship Type="http://schemas.openxmlformats.org/officeDocument/2006/relationships/slide" Target="/ppt/slides/slide7.xml" Id="R595d9727eb584d36" /><Relationship Type="http://schemas.openxmlformats.org/officeDocument/2006/relationships/slide" Target="/ppt/slides/slide8.xml" Id="R35f81299d3a34622" /><Relationship Type="http://schemas.openxmlformats.org/officeDocument/2006/relationships/slide" Target="/ppt/slides/slide9.xml" Id="Rb2b08a9504cc4bb5" /><Relationship Type="http://schemas.openxmlformats.org/officeDocument/2006/relationships/slide" Target="/ppt/slides/slide10.xml" Id="R8833c9196b884192" /><Relationship Type="http://schemas.openxmlformats.org/officeDocument/2006/relationships/slide" Target="/ppt/slides/slide11.xml" Id="R7528667062dc4b72" /><Relationship Type="http://schemas.openxmlformats.org/officeDocument/2006/relationships/slide" Target="/ppt/slides/slide12.xml" Id="Rd4deb8090e614410" /><Relationship Type="http://schemas.openxmlformats.org/officeDocument/2006/relationships/slide" Target="/ppt/slides/slide13.xml" Id="Rf278ce67fb214fdb" /><Relationship Type="http://schemas.openxmlformats.org/officeDocument/2006/relationships/slide" Target="/ppt/slides/slide14.xml" Id="Rde12ca483d854d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3e409f52d0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cb9e6d950e4e4e" /><Relationship Type="http://schemas.openxmlformats.org/officeDocument/2006/relationships/notesMaster" Target="/ppt/notesMasters/notesMaster1.xml" Id="Rb3cbc5e541894c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27452c7f1d43a8" /><Relationship Type="http://schemas.openxmlformats.org/officeDocument/2006/relationships/notesMaster" Target="/ppt/notesMasters/notesMaster1.xml" Id="R6f690b3c769546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029cdfbdc246f7" /><Relationship Type="http://schemas.openxmlformats.org/officeDocument/2006/relationships/notesMaster" Target="/ppt/notesMasters/notesMaster1.xml" Id="R5c61d4ddd39b47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aaa48738074be2" /><Relationship Type="http://schemas.openxmlformats.org/officeDocument/2006/relationships/notesMaster" Target="/ppt/notesMasters/notesMaster1.xml" Id="R38d08e3f319d40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5d59ac1a834c73" /><Relationship Type="http://schemas.openxmlformats.org/officeDocument/2006/relationships/notesMaster" Target="/ppt/notesMasters/notesMaster1.xml" Id="R369e75c16aca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51c09ba5e141e1" /><Relationship Type="http://schemas.openxmlformats.org/officeDocument/2006/relationships/notesMaster" Target="/ppt/notesMasters/notesMaster1.xml" Id="R6b848ca844c14f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cbefc11a9d4e52" /><Relationship Type="http://schemas.openxmlformats.org/officeDocument/2006/relationships/notesMaster" Target="/ppt/notesMasters/notesMaster1.xml" Id="R356517ab51d843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7fb68a40c241e5" /><Relationship Type="http://schemas.openxmlformats.org/officeDocument/2006/relationships/notesMaster" Target="/ppt/notesMasters/notesMaster1.xml" Id="R71ee6cf250004c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2a9765af57403c" /><Relationship Type="http://schemas.openxmlformats.org/officeDocument/2006/relationships/notesMaster" Target="/ppt/notesMasters/notesMaster1.xml" Id="Ra47911c2a27648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8050d700be4b7b" /><Relationship Type="http://schemas.openxmlformats.org/officeDocument/2006/relationships/notesMaster" Target="/ppt/notesMasters/notesMaster1.xml" Id="R7c3e711fa33541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72ecd176804d0f" /><Relationship Type="http://schemas.openxmlformats.org/officeDocument/2006/relationships/notesMaster" Target="/ppt/notesMasters/notesMaster1.xml" Id="R62f16d8850d647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e6360eb9144426" /><Relationship Type="http://schemas.openxmlformats.org/officeDocument/2006/relationships/notesMaster" Target="/ppt/notesMasters/notesMaster1.xml" Id="R78a517874d2744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e5860ca73b4843" /><Relationship Type="http://schemas.openxmlformats.org/officeDocument/2006/relationships/notesMaster" Target="/ppt/notesMasters/notesMaster1.xml" Id="R0801af2191ed47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11b48a36fe4b16" /><Relationship Type="http://schemas.openxmlformats.org/officeDocument/2006/relationships/notesMaster" Target="/ppt/notesMasters/notesMaster1.xml" Id="Rb2fa1522ab4e47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0cd2eb9f441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493a542bb949d1" /><Relationship Type="http://schemas.openxmlformats.org/officeDocument/2006/relationships/slideLayout" Target="/ppt/slideLayouts/slideLayout1.xml" Id="Rebaea9c69a8342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aea9c69a8342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993fd0b304ba3" /><Relationship Type="http://schemas.openxmlformats.org/officeDocument/2006/relationships/notesSlide" Target="/ppt/notesSlides/notesSlide1.xml" Id="Ree5f01e403cd4e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0c7ad1d5949d5" /><Relationship Type="http://schemas.openxmlformats.org/officeDocument/2006/relationships/notesSlide" Target="/ppt/notesSlides/notesSlide2.xml" Id="R01207eb67bd847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5c29130264d78" /><Relationship Type="http://schemas.openxmlformats.org/officeDocument/2006/relationships/notesSlide" Target="/ppt/notesSlides/notesSlide3.xml" Id="Rac68f9b648af42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bf313a0c94643" /><Relationship Type="http://schemas.openxmlformats.org/officeDocument/2006/relationships/notesSlide" Target="/ppt/notesSlides/notesSlide4.xml" Id="Rf5130113bcc34b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6ca5a53fc4b1e" /><Relationship Type="http://schemas.openxmlformats.org/officeDocument/2006/relationships/chart" Target="/ppt/slides/charts/chart1.xml" Id="Rc2cb43e2e89249fd" /><Relationship Type="http://schemas.openxmlformats.org/officeDocument/2006/relationships/notesSlide" Target="/ppt/notesSlides/notesSlide5.xml" Id="Rd6f58dd9134e4c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1b4a5623047f1" /><Relationship Type="http://schemas.openxmlformats.org/officeDocument/2006/relationships/notesSlide" Target="/ppt/notesSlides/notesSlide6.xml" Id="R20f16ae9a1cf49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70441bc614af3" /><Relationship Type="http://schemas.openxmlformats.org/officeDocument/2006/relationships/notesSlide" Target="/ppt/notesSlides/notesSlide7.xml" Id="R3570461559704c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13dd8c48e4058" /><Relationship Type="http://schemas.openxmlformats.org/officeDocument/2006/relationships/notesSlide" Target="/ppt/notesSlides/notesSlide8.xml" Id="Rd59e6e6cf9a94d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d8bc46227429e" /><Relationship Type="http://schemas.openxmlformats.org/officeDocument/2006/relationships/chart" Target="/ppt/slides/charts/chart2.xml" Id="R5c8067b7f3b34eba" /><Relationship Type="http://schemas.openxmlformats.org/officeDocument/2006/relationships/notesSlide" Target="/ppt/notesSlides/notesSlide9.xml" Id="R9eb3f4e8acd147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8cd4c74ad45ec" /><Relationship Type="http://schemas.openxmlformats.org/officeDocument/2006/relationships/chart" Target="/ppt/slides/charts/chart3.xml" Id="Rd7572749a4344d5d" /><Relationship Type="http://schemas.openxmlformats.org/officeDocument/2006/relationships/notesSlide" Target="/ppt/notesSlides/notesSlide10.xml" Id="R1021d84fa9104d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117910adf4954" /><Relationship Type="http://schemas.openxmlformats.org/officeDocument/2006/relationships/notesSlide" Target="/ppt/notesSlides/notesSlide11.xml" Id="R48c68b80d7a449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c53dd4a324dca" /><Relationship Type="http://schemas.openxmlformats.org/officeDocument/2006/relationships/notesSlide" Target="/ppt/notesSlides/notesSlide12.xml" Id="Rf47bfa5eaf7e47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ff70a64f24387" /><Relationship Type="http://schemas.openxmlformats.org/officeDocument/2006/relationships/notesSlide" Target="/ppt/notesSlides/notesSlide13.xml" Id="R448d09ab763040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7505f70e94a1c" /><Relationship Type="http://schemas.openxmlformats.org/officeDocument/2006/relationships/notesSlide" Target="/ppt/notesSlides/notesSlide14.xml" Id="R9b41b908bcc1464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样本数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samples</c:v>
              </c:pt>
              <c:pt idx="1">
                <c:v>dev</c:v>
              </c:pt>
              <c:pt idx="2">
                <c:v>test</c:v>
              </c:pt>
              <c:pt idx="3">
                <c:v>real</c:v>
              </c:pt>
              <c:pt idx="4">
                <c:v>train</c:v>
              </c:pt>
            </c:strLit>
          </c:cat>
          <c:val>
            <c:numLit>
              <c:formatCode>General</c:formatCode>
              <c:ptCount val="5"/>
              <c:pt idx="0">
                <c:v>120</c:v>
              </c:pt>
              <c:pt idx="1">
                <c:v>50</c:v>
              </c:pt>
              <c:pt idx="2">
                <c:v>60</c:v>
              </c:pt>
              <c:pt idx="3">
                <c:v>40</c:v>
              </c:pt>
              <c:pt idx="4">
                <c:v>85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AF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F1(%)</c:v>
          </c:tx>
          <c:spPr>
            <a:solidFill xmlns:a="http://schemas.openxmlformats.org/drawingml/2006/main">
              <a:srgbClr val="16A34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接入前</c:v>
              </c:pt>
              <c:pt idx="1">
                <c:v>组织指代增强后</c:v>
              </c:pt>
            </c:strLit>
          </c:cat>
          <c:val>
            <c:numLit>
              <c:formatCode>General</c:formatCode>
              <c:ptCount val="2"/>
              <c:pt idx="0">
                <c:v>79.63</c:v>
              </c:pt>
              <c:pt idx="1">
                <c:v>87.65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FC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错误样本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它/它们</c:v>
              </c:pt>
              <c:pt idx="1">
                <c:v>多人物</c:v>
              </c:pt>
              <c:pt idx="2">
                <c:v>组织指代</c:v>
              </c:pt>
              <c:pt idx="3">
                <c:v>过度预测</c:v>
              </c:pt>
              <c:pt idx="4">
                <c:v>称谓</c:v>
              </c:pt>
              <c:pt idx="5">
                <c:v>其他</c:v>
              </c:pt>
              <c:pt idx="6">
                <c:v>我/你</c:v>
              </c:pt>
            </c:strLit>
          </c:cat>
          <c:val>
            <c:numLit>
              <c:formatCode>General</c:formatCode>
              <c:ptCount val="7"/>
              <c:pt idx="0">
                <c:v>6</c:v>
              </c:pt>
              <c:pt idx="1">
                <c:v>4</c:v>
              </c:pt>
              <c:pt idx="2">
                <c:v>4</c:v>
              </c:pt>
              <c:pt idx="3">
                <c:v>2</c:v>
              </c:pt>
              <c:pt idx="4">
                <c:v>2</c:v>
              </c:pt>
              <c:pt idx="5">
                <c:v>2</c:v>
              </c:pt>
              <c:pt idx="6">
                <c:v>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AF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5A3CD-1FD2-4488-BC72-54CA9EF9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中文指代消解与句子改写系统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5FDA7-DC83-4F76-A4DE-2203AFBD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面向中文文本理解与问答场景的可解释 NLP 期末项目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8B046-DAD6-4227-B117-1DB0DE2D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项目成员：郭英恺 10245102433  /  刘毅恒 10245102406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E3D47-76C4-4047-94CD-277F92DC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F007D-158E-4B27-ACAE-4B47C888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85 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7027E-8ADB-49B8-9A77-FC4362BB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新标注样本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23761-02EC-47F8-A06D-9489A930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接入 train.json，用于规则增强与错误分析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D9234-D2F3-4843-B08C-D4BC82E4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33750"/>
            <a:ext cx="2857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C919D-8BD9-4770-BC71-E723B03F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433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0.8765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7FF62-7717-40C9-B82A-489BD289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767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训练集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7C2D1-2CE6-4D22-9BF8-3FEC5530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386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组织指代增强后的训练集表现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165CB-D85B-43B7-8468-38F89551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33750"/>
            <a:ext cx="2857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4CB41-C602-4FB3-B5E9-FA65BB82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433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Web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D27CF-8C91-40D0-BB99-98015684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67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展示方式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C5E5C-1E1D-48A5-BD2B-95302795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386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Streamlit + 云服务器部署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159B2-2457-4B2A-A6FD-5847CE27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1/14</a:t>
            </a:r>
          </a:p>
        </p:txBody>
      </p:sp>
    </p:spTree>
    <p:extLst>
      <p:ext uri="{BB962C8B-B14F-4D97-AF65-F5344CB8AC3E}">
        <p14:creationId xmlns:p14="http://schemas.microsoft.com/office/powerpoint/2010/main" val="1577648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AB0951-BD3D-4C9F-8DAC-30698642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项目背景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68928-8E5F-44F0-B739-6E77B9C7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为什么选择指代消解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20EFF-8E8A-48F9-8DF3-70910871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• 中文文本经常省略主语，代词指向依赖上下文。</a:t>
            </a:r>
          </a:p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• 在问答、摘要、信息抽取中，代词不清会影响理解。</a:t>
            </a:r>
          </a:p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• 句子改写能把隐含指代显式化，便于展示与评估。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75240-A602-4125-A775-845B4F32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43050"/>
            <a:ext cx="4000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AD990-F397-40CA-9758-36A9A5EC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例子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0547E-158E-48AA-AC1B-743EB1CB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050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马斯克整理了书，</a:t>
            </a:r>
          </a:p>
          <a:p xmlns:a="http://schemas.openxmlformats.org/drawingml/2006/main">
            <a:pPr algn="l"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他准备再次确认它。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7C819-D566-4D86-B3F9-0FFFEF9B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09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改写：马斯克准备确认书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A6AFB-99CC-4499-9F39-D2BF6BC5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2/14</a:t>
            </a:r>
          </a:p>
        </p:txBody>
      </p:sp>
    </p:spTree>
    <p:extLst>
      <p:ext uri="{BB962C8B-B14F-4D97-AF65-F5344CB8AC3E}">
        <p14:creationId xmlns:p14="http://schemas.microsoft.com/office/powerpoint/2010/main" val="1798756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DF173-CBB0-41C7-81FF-413403F3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核心任务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0A87C-25E1-4E2C-B2B7-227645A5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主要功能与目标用户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42EF2-F4E2-4BB5-A35D-D5CCCC70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41406-A49F-4B0A-A1DB-8730F6F5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442E7-8267-4065-A54C-2A8B28E8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输入文本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38E87-AC05-4FEA-9436-EB27E9E2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用户输入一句或一段中文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474D5-A9F0-49A9-95EC-EB97511B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955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7017D-386A-4B62-8300-838988A8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04E5D-674A-4566-8B16-E46D54EA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4828D-403C-4837-B5AD-922B8B55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抽取候选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06873-90D7-4856-A868-6DD6BB3A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识别实体、代词和指代表达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5EFBF-982B-47AA-9064-0B53A4C3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955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6C260-4FEB-446D-A39B-CEE336E1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851B8-6E60-454D-8CA4-9FFDECB5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25A50-0185-4F24-90F6-DEC80C0E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669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关系打分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18538-255D-4704-A390-2ED16D32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结合距离、类型、性别、位置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28CF4-C947-4325-856E-5DC480D3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98B06-52F3-478E-A4A6-31937649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AFEBF-9305-4521-B386-722ABFAD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47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8B74D-2D2F-434A-B014-418C61DE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文本改写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C6891-12A5-431D-9260-EAE71FCD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479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用先行词替换可消解代词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57D4F-994A-441A-80A2-B265F46F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955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52675-70FE-4358-9A99-777D4619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063AB-3F22-4585-8226-A5221412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47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9A588-836F-4DC9-9205-30883075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669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可视化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C86B3-4DE7-40B7-A6E1-1D19F6D5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展示高亮、候选得分和错误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C1868B-9B13-430D-9247-A3B691AB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目标用户：NLP 课程学习者、中文文本处理者、问答/摘要系统开发者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D5EEA-4161-4430-85EB-0B4A2E38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使用场景：课堂演示、文本改写辅助、数据标注与错误分析、下游任务预处理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69342B-5E3E-4EF8-AD8F-D8E05AC4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3/14</a:t>
            </a:r>
          </a:p>
        </p:txBody>
      </p:sp>
    </p:spTree>
    <p:extLst>
      <p:ext uri="{BB962C8B-B14F-4D97-AF65-F5344CB8AC3E}">
        <p14:creationId xmlns:p14="http://schemas.microsoft.com/office/powerpoint/2010/main" val="834549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E7A8CE-8473-413F-905B-4986D3AB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实现基础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DED07-6F68-455A-BB5D-B749F599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技术栈与工程结构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FF1A8-322A-4628-AFA3-24D2853B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42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0B6B9-DC2F-4BB6-AF85-2D15C43F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49D21-294F-4F10-A2AA-D9C1B741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1450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B15CB-C72A-4FD7-9561-4096CFB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097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Streamlit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2B7F9-4B9F-4D26-9BBB-2A4C01F4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07E9B-3CAD-416C-8EA2-D6AC1AD5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规则引擎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831C8-9F5C-48F9-B324-9A1C573E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52582-6BBA-45BF-99CD-54BF17BB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HanLP / LTP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DE639-54C1-416A-9F00-984D0D3D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93D50-945B-47BA-B5F2-6555B173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Nginx / 云服务器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580F5-F771-43C2-8F3A-0DD547D6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9715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012A1-968F-4F38-BA16-4DDD74F0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模块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A4395-F5DB-49AB-827F-A96495A8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职责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CF7B9-1ABF-45E4-BC3D-F62F1C19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242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B1D4B-0B19-4FFA-A7F1-8E59154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mention_extractor.py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ED5E6-2FAD-49E8-A8E9-7906FD19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抽取实体与代词，并接入训练词表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1DB45-86B0-4E86-A949-9DABE04B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814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CE29D-D503-452F-B024-E5B96856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resolver.py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5650B-F291-4CC4-A2DC-47EFF6B6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9570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候选先行词打分、歧义检测、规则覆盖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66BA2-BCC8-401D-A8B9-50FDE330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386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20405B-DFB0-472D-A124-9DB9FC76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rewriter.py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9C037-08A7-4654-BF8D-8FE382D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5290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根据消解结果生成改写文本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E3883-A7AB-48C1-87A9-E37FEDA5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958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0103E-A7B7-460A-8068-65313435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101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evaluator.py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EF7A7-8280-4B1F-9DAF-D373CA62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计算 Precision / Recall / F1 并输出错误样本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10C8A5-4FAA-48C6-B6CA-3F79419B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9530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C48031-D1C2-4428-A0A8-72824159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673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app.py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9FA44D-7DF5-4D2E-B558-82D4E761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6730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Streamlit 页面、评估页、消融实验页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C7DBDE-F0A4-47CE-B171-4C791AEA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4/14</a:t>
            </a:r>
          </a:p>
        </p:txBody>
      </p:sp>
    </p:spTree>
    <p:extLst>
      <p:ext uri="{BB962C8B-B14F-4D97-AF65-F5344CB8AC3E}">
        <p14:creationId xmlns:p14="http://schemas.microsoft.com/office/powerpoint/2010/main" val="483922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F411B9-4A02-45B9-BBC7-A7C3BDFF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数据准备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ECA75-9DDA-41CA-B65F-BF94709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数据集构成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1143000" y="171450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cb43e2e89249f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1EEA6-DF27-4617-8992-3A421216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00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• 构造集用于验证基础规则稳定性。</a:t>
            </a:r>
          </a:p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• 真实语料风格集用于暴露复杂错误。</a:t>
            </a:r>
          </a:p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• new_set.json 新增 85 条标注数据，生成 train.json。</a:t>
            </a:r>
          </a:p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• 训练集包含 162 个真实指代关系。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4D4DB-FC1F-430E-8B34-B54E294D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5/14</a:t>
            </a:r>
          </a:p>
        </p:txBody>
      </p:sp>
    </p:spTree>
    <p:extLst>
      <p:ext uri="{BB962C8B-B14F-4D97-AF65-F5344CB8AC3E}">
        <p14:creationId xmlns:p14="http://schemas.microsoft.com/office/powerpoint/2010/main" val="1715639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0F4F5A-FC2A-4F90-8FA2-7D89234A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从输入到展示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3D0CF-F288-4F26-BB4C-E7DC7ED2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57020-5810-41E0-BE6D-9DAF8624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46BF3-7554-4AFA-9CB0-0FB0A285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07687-A1CA-45DF-A49A-5826E709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81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数据层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6E25E-6EAD-4750-9CB9-BECA3A23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demo/dev/test/train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34836-17C7-44AC-A2C0-2FE44EBB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098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86DBF-A0A9-490E-AAF5-FDE8F729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0975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52BFF-800B-4A11-A1B9-BC8BB54D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DEF3B-466E-4A8E-B2F2-D34014BF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81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抽取层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B64FB-70A7-4A23-8555-05CBAE83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622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规则词典 + 可选 NLP 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B737F-E796-418D-87A2-5D41DF49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098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13D52-D3A3-4BFD-A9FE-FCBAA5FC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0975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8D123-6933-4ED2-A7F6-070C32C9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BFF57-6CC5-4CDD-959E-C9E8A4AF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81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消解层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1E697-68D4-42FF-80E2-C70B6857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候选排序与歧义检测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E9070-AAEB-4DA0-BE82-F3AD0D88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3299B-0B9B-4ACA-935D-4F9AE984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30310-4A4A-46E5-9972-473F8DB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E8FE3-0836-4A67-9F5D-9E2193C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81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评估层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A767E-EB9D-42A6-9B2D-0C4A7DA0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622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指标、错误、消融实验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3AA3D-CF1C-4480-9514-937E5681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98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5DF24-DC56-4500-AF68-FD9D9431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6922D-E529-4004-BC8A-0FEA00B2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77BD4B-1B10-4A13-8C3E-DF2681E7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81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展示层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605C4-F924-4C48-BA11-3C161E2B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622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Streamlit Web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B1B7A3-6450-42D2-924B-9C3F8666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4155"/>
                </a:solidFill>
              </a:defRPr>
            </a:pPr>
            <a:r>
              <a:rPr sz="1800" b="1">
                <a:solidFill>
                  <a:srgbClr val="334155"/>
                </a:solidFill>
              </a:rPr>
              <a:t>设计取向：优先保证可解释性，每个判断都能展示候选得分和规则理由。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54BF0A-0F69-4017-BC76-AD70F08D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6/14</a:t>
            </a:r>
          </a:p>
        </p:txBody>
      </p:sp>
    </p:spTree>
    <p:extLst>
      <p:ext uri="{BB962C8B-B14F-4D97-AF65-F5344CB8AC3E}">
        <p14:creationId xmlns:p14="http://schemas.microsoft.com/office/powerpoint/2010/main" val="17317837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21CE4-4115-4276-85E7-2E3032FC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核心算法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872CC-E583-496B-839F-00B8CE5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规则引擎如何判断先行词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70056-0C04-4604-956F-FA4D113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43050"/>
            <a:ext cx="103251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35556-8221-4A88-8D81-DA43B958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信号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E5C35-DE99-492B-8CAB-4FBD33A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573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F8EC6-CE98-4E5E-8B53-B463D371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57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作用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86F22-9345-4309-93F2-AB4BC653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025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939B3-AA94-4324-8E95-A4E52BFF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距离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1B10B-8E70-481C-AB11-BE1CD444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145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候选实体与代词的字符距离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8552B-D9B1-4A61-9E22-2961E71D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越近通常越可能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A9B53-28A9-43CF-A23E-E4EC84BC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5745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4089D-8F37-4EDC-B441-9981CB93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9242E-B550-41C5-A19F-4AD33ACE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候选应优先出现在代词之前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0EDA4-1F9C-47F9-8C27-48F58B96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降低后文实体误判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73626-9813-4895-990D-5E700B2C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1465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BE969-65C9-47DC-9B32-D96F64FA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类型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EB2DA-86F9-4F1F-8B52-E64F14BE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人称/物体/组织指代匹配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C5388-226F-415E-B35D-7BBA82CA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28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当前最关键规则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F03329-AC0F-43B3-8512-3B98F990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7185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45DCE-DE75-41EC-87BD-9F6AB107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性别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6E203-3786-4B6B-AE7C-99E55084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他/她与已知人名性别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A8145-B066-44AA-AEAF-CB54A554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处理基础人名样本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3DC93-916D-48AB-BEB1-308270C2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2905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78C2D-394C-48E8-94B4-1CCD50FB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角色模式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81784-5B8E-424E-87C7-4AF9F5C8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替/帮/为、对/向/跟说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7B8E6-74B7-4D97-B805-016B5CD8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43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处理动作角色与歧义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F6B56-C832-4C9E-8CF6-5E69E8B0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577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输出不是黑盒标签，而是候选列表、分数和理由。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F9BAA5-B0DB-4716-BF05-4C8447C6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7/14</a:t>
            </a:r>
          </a:p>
        </p:txBody>
      </p:sp>
    </p:spTree>
    <p:extLst>
      <p:ext uri="{BB962C8B-B14F-4D97-AF65-F5344CB8AC3E}">
        <p14:creationId xmlns:p14="http://schemas.microsoft.com/office/powerpoint/2010/main" val="2805581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598BC-60F7-4E63-822F-0EBBD6F0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训练增强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E831D-B369-4A1E-8C11-08BDEEB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新标注集接入流程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4214E-738A-44A0-BD0B-140B5F33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B3A4D-7B96-4FE4-9760-9D964409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CCFB9-8F3E-43BD-A019-A82BE8DF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拉取数据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657AC-E958-4873-BAF4-C92DE6E9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从 GitHub 获取 data/new_set.json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46B73-A370-4327-B964-9A0CCBCD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193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32608-456F-43B0-950C-1A9EDFFE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1925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57FE4-C696-4915-8792-38BD3ADE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71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53F5B-B98F-444B-9A16-93951354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补 rewrite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7A8EA-F1BC-4DBB-99AB-520CBAFB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脚本自动根据标注关系改写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BCBF4-11A8-4F13-A3BB-9B4EB108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193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E517C-8CB7-4D3A-9441-9E7CF5DB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1925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BE3A0-844F-47D1-AC31-B91D0C0C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71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098A9-EA5A-4F21-B7C4-8DAD9D3B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90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生成 train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32D3C-93F0-4C7E-AE21-7308525E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717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输出 data/train.json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F908F-5D01-4705-908B-A674DBCC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193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69E85-9CB4-418B-BC88-05BA1847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2B9B1-0095-4AF6-AC1E-0A3B34D2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71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B23E1-A191-491C-8F15-AE8BA13C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90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扩展词表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EB93F-130C-4B55-A360-BCEF943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717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并入 pronoun / antecedent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0D140-C2D6-453B-AB10-23B2C244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</a:defRPr>
            </a:pPr>
            <a:r>
              <a:rPr sz="24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C05BE-9CB6-4E1C-A9AA-7827CD6E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1981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3B8B9-8CAD-4389-9C0A-4A5CBEF7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71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17EB8-1BA2-475E-A8E9-3C76D71D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790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重新评估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D2C39-2B8E-4F0F-BC8B-C3A2BEE8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717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生成错误分析报告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FEF38-CAE4-40B4-9622-85D7884C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34155"/>
                </a:solidFill>
              </a:defRPr>
            </a:pPr>
            <a:r>
              <a:rPr sz="1725" b="1">
                <a:solidFill>
                  <a:srgbClr val="334155"/>
                </a:solidFill>
              </a:rPr>
              <a:t>对应脚本：scripts/prepare_training_data.py 与 scripts/analyze_training_errors.py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74C48-7C1D-47BD-93B9-967EDFB0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8/14</a:t>
            </a:r>
          </a:p>
        </p:txBody>
      </p:sp>
    </p:spTree>
    <p:extLst>
      <p:ext uri="{BB962C8B-B14F-4D97-AF65-F5344CB8AC3E}">
        <p14:creationId xmlns:p14="http://schemas.microsoft.com/office/powerpoint/2010/main" val="191255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4338C9-39BD-48D0-899D-A70DD1FA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D8EB0-C438-411C-85CD-FA77F28C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训练集表现提升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1238250" y="1666875"/>
          <a:ext xmlns:a="http://schemas.openxmlformats.org/drawingml/2006/main" cx="4762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8067b7f3b34eb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75EB0-8AD7-4DF7-B18F-9FE29181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954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2ABAF-F5FD-4FF4-B168-9C584012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050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+0.0802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0F261-DB0F-4D7F-BFED-DB9A4275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3840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F1 提升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93961-BEE1-4EE2-9265-45D5771B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组织指代表达带来主要增益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F65D9-D65B-4BBE-8F34-4BFBE998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8140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94519-5057-483F-9B52-F7B248B1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34 → 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4AD1F-D7EF-4A5E-9A32-6F3AEED4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错误减少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09AF5-C845-42F7-9AED-38F1731E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错误样本减少 13 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4BDF7-28B8-4D2A-8B6F-40F6E537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9/14</a:t>
            </a:r>
          </a:p>
        </p:txBody>
      </p:sp>
    </p:spTree>
    <p:extLst>
      <p:ext uri="{BB962C8B-B14F-4D97-AF65-F5344CB8AC3E}">
        <p14:creationId xmlns:p14="http://schemas.microsoft.com/office/powerpoint/2010/main" val="1078599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547734-1FCC-4082-830F-9D205997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错误分析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A1E35-6247-45FE-938B-C21A3AE0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错误类型分布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1047750" y="1543050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572749a4344d5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35949-D2B4-4CB6-AA16-96A75684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238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• 最大问题不是单一模型失败，而是多类语言现象混合。</a:t>
            </a:r>
          </a:p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• 标注粒度不一致会直接影响指标。</a:t>
            </a:r>
          </a:p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• 多人物同形代词需要位置级评估与语义角色信息。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04D35-F850-4F06-92EB-59F5143B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10/14</a:t>
            </a:r>
          </a:p>
        </p:txBody>
      </p:sp>
    </p:spTree>
    <p:extLst>
      <p:ext uri="{BB962C8B-B14F-4D97-AF65-F5344CB8AC3E}">
        <p14:creationId xmlns:p14="http://schemas.microsoft.com/office/powerpoint/2010/main" val="10494520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91EE02-91CE-48D8-947C-4C5B3CF5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程序验证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D1E4B-D2C0-4694-A397-44C460E6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测试用例与典型表现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A547F-C28E-490B-8481-AC21AB68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05537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48A4D-239A-427E-B70A-875B7DB8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用例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583E7-B7B2-41C6-8AE1-691401CC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573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8DCB7-727D-42BF-8F1D-A996B220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573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系统表现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388A2-60C9-424D-A05D-4009E40A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0025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F978F-7966-4C4B-A298-AE73DAF4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93625-7658-4B70-9062-613D320D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小明把书给小红，因为她需要它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2A9D3-F92F-4267-AA6A-E09C489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145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她-&gt;小红，它-&gt;书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1C0B8-E299-4710-AE1F-5DFA8941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5745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021B2-94F7-4A84-9686-F1A2A4B2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物体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57D62-36DE-47D6-B721-F2E29241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717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马斯克整理了书，他确认它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F2112-8520-4E98-B3A2-B21DF5E5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人物与物体均可改写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1146D-BA75-4372-B3F4-F359D632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1465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B783C-F160-4590-9659-BE0A7787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歧义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BB080-39EB-4AE1-832F-F647255B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289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马云会见马斯克，他对他说话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67543-2D90-4B1A-8A1D-1334139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289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提示歧义，跳过自动改写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410A5-44E9-4573-A3A7-C072F51A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7185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612D3-4129-401E-A441-76EA3DC8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组织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03D82-BE14-4AEA-BD60-4B601E0C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861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博物院展出瓷器，该院开放展厅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75121-1016-4B7C-A327-B571DB24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861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该院-&gt;博物院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E3847-84C3-4662-B298-60E810AF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2905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47A82-9DCF-4D21-AE40-94AA9AFF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称谓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CCCE1-539A-47EE-A0D8-DEE6AE3F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孔子问子路，弟子回答老师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8C11B6-E80F-44D7-9626-85C15299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433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暴露身份知识不足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197F16-7BBC-403D-AF83-516A8BD3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11/14</a:t>
            </a:r>
          </a:p>
        </p:txBody>
      </p:sp>
    </p:spTree>
    <p:extLst>
      <p:ext uri="{BB962C8B-B14F-4D97-AF65-F5344CB8AC3E}">
        <p14:creationId xmlns:p14="http://schemas.microsoft.com/office/powerpoint/2010/main" val="1728542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1D7CCA-1757-4C34-9A12-033E43A5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成果展示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48071-67A0-4103-83B1-B00ACA6E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Web Demo 与部署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31589-6F62-4F85-B14B-918202E3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• 页面输入一句中文文本，点击开始分析。</a:t>
            </a:r>
          </a:p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• 展示原文高亮、候选实体、代词、关系表、候选得分。</a:t>
            </a:r>
          </a:p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• 歧义样本会提示人工确认，并跳过自动改写。</a:t>
            </a:r>
          </a:p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• 云服务器可通过公网 IP + 8501 临时展示，正式版可接 Nginx。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FB574-FBC1-4AB2-A6B7-40915F89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62100"/>
            <a:ext cx="4095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09256-9707-4A98-BC22-0C85464A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669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</a:defRPr>
            </a:pPr>
            <a:r>
              <a:rPr sz="1950" b="1">
                <a:solidFill>
                  <a:srgbClr val="16A34A"/>
                </a:solidFill>
              </a:rPr>
              <a:t>部署路径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59C08-D800-4588-991B-54EA8CD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GitHub</a:t>
            </a:r>
          </a:p>
          <a:p xmlns:a="http://schemas.openxmlformats.org/drawingml/2006/main">
            <a:pPr algn="ct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→ 云服务器</a:t>
            </a:r>
          </a:p>
          <a:p xmlns:a="http://schemas.openxmlformats.org/drawingml/2006/main">
            <a:pPr algn="ct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→ Streamlit</a:t>
            </a:r>
          </a:p>
          <a:p xmlns:a="http://schemas.openxmlformats.org/drawingml/2006/main">
            <a:pPr algn="ct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→ 浏览器展示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F4F56-1521-4F80-89A5-E453D45E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12/14</a:t>
            </a:r>
          </a:p>
        </p:txBody>
      </p:sp>
    </p:spTree>
    <p:extLst>
      <p:ext uri="{BB962C8B-B14F-4D97-AF65-F5344CB8AC3E}">
        <p14:creationId xmlns:p14="http://schemas.microsoft.com/office/powerpoint/2010/main" val="9498520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E071B2-6635-487E-8F39-63E37243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进阶方向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0C7B2-5787-457A-855A-86186F8A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下一步：从规则到语义模型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73663-B922-4DC0-B52A-49B1371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96341-5407-4609-8D58-6CBE0BA1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A9A5D-026D-4D46-AFBF-79B4D64E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954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2A835-25DC-4232-8901-CBA76D0F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实现方式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BC544-3165-43CC-882C-1DE8BF3E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383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81019-8FE5-4030-8613-BB0F8B38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Span 级评估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E7643-6452-4843-BF5C-78595039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526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解决同形代词混淆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A4721-6ECF-464A-800E-68E7A83C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记录 pronoun_start / antecedent_start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E6394-255C-46B0-92CA-18D01F4E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955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A0544-8860-427B-893D-D31AA8D3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语义相似度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EDD21-C0F2-4A02-85E2-FDB2602B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减少近距离误判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7B9A1-1F8C-481D-8320-AF02D484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BERT / sentence-transformers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F896F-8694-4C2B-A34E-70C7CCFD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527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39BB1-F02B-45CF-8208-3452010A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角色识别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1E93F-B9EE-409B-B855-3989F6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处理“他说/他问/他嘱咐”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1B299-469E-48D8-85D8-970F576E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依存句法或事件模板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7AD25-B5EC-499B-8E26-DCA7F1BF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099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953B2-826A-4895-B4B9-85F6FD22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标注规范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44BC0-BC73-45E3-A558-C7A1E096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减少它/它们粒度误差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FD4CB-5ECB-4706-A7A9-763CA1D8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统一按原文完整 span 标注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82386-B994-4028-B8D6-C3F47A46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这部分可作为报告中的“进阶改进与未来工作”。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B940B-770A-4B59-A13C-959B6AC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13/14</a:t>
            </a:r>
          </a:p>
        </p:txBody>
      </p:sp>
    </p:spTree>
    <p:extLst>
      <p:ext uri="{BB962C8B-B14F-4D97-AF65-F5344CB8AC3E}">
        <p14:creationId xmlns:p14="http://schemas.microsoft.com/office/powerpoint/2010/main" val="981751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A75A38-CC31-4A07-B577-02468613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E4ADD-C33B-4B73-9535-D3E2043D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838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• 完成了中文指代消解、文本改写、可视化评估与云端展示闭环。</a:t>
            </a:r>
          </a:p>
          <a:p xmlns:a="http://schemas.openxmlformats.org/drawingml/2006/main">
            <a:pPr algn="l"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• 新增 85 条标注数据，并自动生成 rewrite 与 train.json。</a:t>
            </a:r>
          </a:p>
          <a:p xmlns:a="http://schemas.openxmlformats.org/drawingml/2006/main">
            <a:pPr algn="l"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• 通过组织指代增强，训练集 F1 提升到 0.8765。</a:t>
            </a:r>
          </a:p>
          <a:p xmlns:a="http://schemas.openxmlformats.org/drawingml/2006/main">
            <a:pPr algn="l"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• 开发中解决了数据补全、歧义跳过、云端展示和错误归因问题。</a:t>
            </a:r>
          </a:p>
          <a:p xmlns:a="http://schemas.openxmlformats.org/drawingml/2006/main">
            <a:pPr algn="l"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• 反思：规则可解释但语义能力有限，后续应引入 BERT 与 span 级评估。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C02BA-0138-4011-ABEF-B7BCB9CC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</a:defRPr>
            </a:pPr>
            <a:r>
              <a:rPr sz="1950" b="1">
                <a:solidFill>
                  <a:srgbClr val="16A34A"/>
                </a:solidFill>
              </a:rPr>
              <a:t>从可解释 baseline 出发，逐步走向更真实的中文语义理解。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1FD7D-7AAF-4C47-B3B1-5E7ADE8F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中文指代消解与句子改写系统  ·  14/14</a:t>
            </a:r>
          </a:p>
        </p:txBody>
      </p:sp>
    </p:spTree>
    <p:extLst>
      <p:ext uri="{BB962C8B-B14F-4D97-AF65-F5344CB8AC3E}">
        <p14:creationId xmlns:p14="http://schemas.microsoft.com/office/powerpoint/2010/main" val="2134606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2026-06-23T10:39:54.6800000Z</dcterms:created>
  <dcterms:modified xsi:type="dcterms:W3CDTF">2026-06-23T10:39:54.6800000Z</dcterms:modified>
</coreProperties>
</file>