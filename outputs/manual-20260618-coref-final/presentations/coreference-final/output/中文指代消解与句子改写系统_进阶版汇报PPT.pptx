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a753c72d157497b" /><Relationship Type="http://schemas.openxmlformats.org/officeDocument/2006/relationships/extended-properties" Target="/docProps/app.xml" Id="R492f1a3c3e7e4d12" /><Relationship Type="http://schemas.openxmlformats.org/officeDocument/2006/relationships/officeDocument" Target="/ppt/presentation.xml" Id="R8d095a9e18074cb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4c42b25b24e478d"/>
  </p:sldMasterIdLst>
  <p:notesMasterIdLst>
    <p:notesMasterId xmlns:r="http://schemas.openxmlformats.org/officeDocument/2006/relationships" r:id="Rffbe9eb172d64c3a"/>
  </p:notesMasterIdLst>
  <p:sldIdLst>
    <p:sldId xmlns:r="http://schemas.openxmlformats.org/officeDocument/2006/relationships" id="256" r:id="Rf37abcfced4847e0"/>
    <p:sldId xmlns:r="http://schemas.openxmlformats.org/officeDocument/2006/relationships" id="257" r:id="R3ed9937e0db246cf"/>
    <p:sldId xmlns:r="http://schemas.openxmlformats.org/officeDocument/2006/relationships" id="258" r:id="R76c8f62d1bc44e01"/>
    <p:sldId xmlns:r="http://schemas.openxmlformats.org/officeDocument/2006/relationships" id="259" r:id="Rc2f517963af84d27"/>
    <p:sldId xmlns:r="http://schemas.openxmlformats.org/officeDocument/2006/relationships" id="260" r:id="Rd5f7a42b34854325"/>
    <p:sldId xmlns:r="http://schemas.openxmlformats.org/officeDocument/2006/relationships" id="261" r:id="R75ebc494dd6a4ace"/>
    <p:sldId xmlns:r="http://schemas.openxmlformats.org/officeDocument/2006/relationships" id="262" r:id="R917b73677d324f0b"/>
    <p:sldId xmlns:r="http://schemas.openxmlformats.org/officeDocument/2006/relationships" id="263" r:id="Rc42dcdd2ec3e467d"/>
    <p:sldId xmlns:r="http://schemas.openxmlformats.org/officeDocument/2006/relationships" id="264" r:id="Rce41d4ad661343bd"/>
    <p:sldId xmlns:r="http://schemas.openxmlformats.org/officeDocument/2006/relationships" id="265" r:id="R23c9ab9a7b02439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f2ae0f8ee724b88" /><Relationship Type="http://schemas.openxmlformats.org/officeDocument/2006/relationships/slideMaster" Target="/ppt/slideMasters/slideMaster1.xml" Id="Re4c42b25b24e478d" /><Relationship Type="http://schemas.openxmlformats.org/officeDocument/2006/relationships/notesMaster" Target="/ppt/notesMasters/notesMaster1.xml" Id="Rffbe9eb172d64c3a" /><Relationship Type="http://schemas.openxmlformats.org/officeDocument/2006/relationships/presProps" Target="/ppt/presProps.xml" Id="Ree0de443119b491e" /><Relationship Type="http://schemas.openxmlformats.org/officeDocument/2006/relationships/tableStyles" Target="/ppt/tableStyles.xml" Id="Rada36a43578c46d4" /><Relationship Type="http://schemas.openxmlformats.org/officeDocument/2006/relationships/slide" Target="/ppt/slides/slide1.xml" Id="Rf37abcfced4847e0" /><Relationship Type="http://schemas.openxmlformats.org/officeDocument/2006/relationships/slide" Target="/ppt/slides/slide2.xml" Id="R3ed9937e0db246cf" /><Relationship Type="http://schemas.openxmlformats.org/officeDocument/2006/relationships/slide" Target="/ppt/slides/slide3.xml" Id="R76c8f62d1bc44e01" /><Relationship Type="http://schemas.openxmlformats.org/officeDocument/2006/relationships/slide" Target="/ppt/slides/slide4.xml" Id="Rc2f517963af84d27" /><Relationship Type="http://schemas.openxmlformats.org/officeDocument/2006/relationships/slide" Target="/ppt/slides/slide5.xml" Id="Rd5f7a42b34854325" /><Relationship Type="http://schemas.openxmlformats.org/officeDocument/2006/relationships/slide" Target="/ppt/slides/slide6.xml" Id="R75ebc494dd6a4ace" /><Relationship Type="http://schemas.openxmlformats.org/officeDocument/2006/relationships/slide" Target="/ppt/slides/slide7.xml" Id="R917b73677d324f0b" /><Relationship Type="http://schemas.openxmlformats.org/officeDocument/2006/relationships/slide" Target="/ppt/slides/slide8.xml" Id="Rc42dcdd2ec3e467d" /><Relationship Type="http://schemas.openxmlformats.org/officeDocument/2006/relationships/slide" Target="/ppt/slides/slide9.xml" Id="Rce41d4ad661343bd" /><Relationship Type="http://schemas.openxmlformats.org/officeDocument/2006/relationships/slide" Target="/ppt/slides/slide10.xml" Id="R23c9ab9a7b02439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958c7c05560426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f260e9cd83748b2" /><Relationship Type="http://schemas.openxmlformats.org/officeDocument/2006/relationships/notesMaster" Target="/ppt/notesMasters/notesMaster1.xml" Id="R07aaf15dc5224c9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668f4b1a7834361" /><Relationship Type="http://schemas.openxmlformats.org/officeDocument/2006/relationships/notesMaster" Target="/ppt/notesMasters/notesMaster1.xml" Id="R0e1015fdc31d4ec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675606bc4c6438b" /><Relationship Type="http://schemas.openxmlformats.org/officeDocument/2006/relationships/notesMaster" Target="/ppt/notesMasters/notesMaster1.xml" Id="R372ad48eeab0481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56aa09a8e974d53" /><Relationship Type="http://schemas.openxmlformats.org/officeDocument/2006/relationships/notesMaster" Target="/ppt/notesMasters/notesMaster1.xml" Id="Rb07444a541464d9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495f63dd2dc4368" /><Relationship Type="http://schemas.openxmlformats.org/officeDocument/2006/relationships/notesMaster" Target="/ppt/notesMasters/notesMaster1.xml" Id="Rd606736d2de8419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28987db47024231" /><Relationship Type="http://schemas.openxmlformats.org/officeDocument/2006/relationships/notesMaster" Target="/ppt/notesMasters/notesMaster1.xml" Id="Rf7ad443c7136433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39b4c1d94e848a5" /><Relationship Type="http://schemas.openxmlformats.org/officeDocument/2006/relationships/notesMaster" Target="/ppt/notesMasters/notesMaster1.xml" Id="Rc46f7881e6aa46e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94dd6ba308e4322" /><Relationship Type="http://schemas.openxmlformats.org/officeDocument/2006/relationships/notesMaster" Target="/ppt/notesMasters/notesMaster1.xml" Id="R8ac0f88e43c844b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17d6e9b01d34949" /><Relationship Type="http://schemas.openxmlformats.org/officeDocument/2006/relationships/notesMaster" Target="/ppt/notesMasters/notesMaster1.xml" Id="R06ffc02169d94e6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77181b2a5da4b4c" /><Relationship Type="http://schemas.openxmlformats.org/officeDocument/2006/relationships/notesMaster" Target="/ppt/notesMasters/notesMaster1.xml" Id="R666f3d0b800d4a0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81c2ec340345b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b85ebe22f334dbe" /><Relationship Type="http://schemas.openxmlformats.org/officeDocument/2006/relationships/slideLayout" Target="/ppt/slideLayouts/slideLayout1.xml" Id="Re0cc687ff4f54f1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0cc687ff4f54f1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58bdbe26064fc2" /><Relationship Type="http://schemas.openxmlformats.org/officeDocument/2006/relationships/notesSlide" Target="/ppt/notesSlides/notesSlide1.xml" Id="R8f430521894042d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bb9015fb1f4f0b" /><Relationship Type="http://schemas.openxmlformats.org/officeDocument/2006/relationships/notesSlide" Target="/ppt/notesSlides/notesSlide2.xml" Id="R306309f27d934a6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9d8d8f75414375" /><Relationship Type="http://schemas.openxmlformats.org/officeDocument/2006/relationships/notesSlide" Target="/ppt/notesSlides/notesSlide3.xml" Id="R03d07a76c4f146d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b9327a41a14005" /><Relationship Type="http://schemas.openxmlformats.org/officeDocument/2006/relationships/notesSlide" Target="/ppt/notesSlides/notesSlide4.xml" Id="R287e4812c4854db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a0aa9e30b942f1" /><Relationship Type="http://schemas.openxmlformats.org/officeDocument/2006/relationships/notesSlide" Target="/ppt/notesSlides/notesSlide5.xml" Id="R44a006283c2a48d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51836ce9644609" /><Relationship Type="http://schemas.openxmlformats.org/officeDocument/2006/relationships/notesSlide" Target="/ppt/notesSlides/notesSlide6.xml" Id="R27ec31c89e6f48f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53e280e10c4acc" /><Relationship Type="http://schemas.openxmlformats.org/officeDocument/2006/relationships/notesSlide" Target="/ppt/notesSlides/notesSlide7.xml" Id="R0b5e9cd4112f4e3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d6c54ded994dfb" /><Relationship Type="http://schemas.openxmlformats.org/officeDocument/2006/relationships/notesSlide" Target="/ppt/notesSlides/notesSlide8.xml" Id="R513cf3ee2c98472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9f58e85bbe4bb9" /><Relationship Type="http://schemas.openxmlformats.org/officeDocument/2006/relationships/notesSlide" Target="/ppt/notesSlides/notesSlide9.xml" Id="Refa1408ffb664bd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94303997234269" /><Relationship Type="http://schemas.openxmlformats.org/officeDocument/2006/relationships/notesSlide" Target="/ppt/notesSlides/notesSlide10.xml" Id="R5ecf07448443429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C37269-4E74-4BFA-A4C1-E7E2B8206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1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740578-C2FA-433C-A4C1-225472E2F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627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B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502C48-52B1-447F-9774-76C7917A3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AB4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AAB4C3"/>
                </a:solidFill>
                <a:latin typeface="Microsoft YaHei"/>
                <a:ea typeface="Microsoft YaHei"/>
                <a:cs typeface="Microsoft YaHei"/>
              </a:rPr>
              <a:t>中文指代消解与句子改写系统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FC9AAF-8AE4-408F-A1E2-89776713A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AB4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AAB4C3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F6B9F8-0689-42CB-85C5-7B2D3E8A3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9100"/>
            <a:ext cx="76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B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414FDD-3EE5-46D9-821E-8CB33E12B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47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4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4B4B"/>
                </a:solidFill>
                <a:latin typeface="Microsoft YaHei"/>
                <a:ea typeface="Microsoft YaHei"/>
                <a:cs typeface="Microsoft YaHei"/>
              </a:rPr>
              <a:t>FINAL PROJECT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5333A0-B2B0-48FF-A296-C93079CDC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19150"/>
            <a:ext cx="9334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从指代消解到句子改写：一个可解释的中文 NLP 小系统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1C3F24-A2CE-4C2E-81A5-2B7780244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95450"/>
            <a:ext cx="857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AB4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AAB4C3"/>
                </a:solidFill>
                <a:latin typeface="Microsoft YaHei"/>
                <a:ea typeface="Microsoft YaHei"/>
                <a:cs typeface="Microsoft YaHei"/>
              </a:rPr>
              <a:t>输入中文文本，识别代词与先行词，输出更清晰的改写结果；同时提供评估、消融实验、歧义提示和部署方案。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934F62-A69A-4359-8A8B-85EEF0971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81300"/>
            <a:ext cx="2381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927"/>
          </a:solidFill>
          <a:ln xmlns:a="http://schemas.openxmlformats.org/drawingml/2006/main" w="9525">
            <a:solidFill>
              <a:srgbClr val="2A344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76671B-702F-4392-A26B-F5697DDF3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2000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50E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50E28A"/>
                </a:solidFill>
                <a:latin typeface="Microsoft YaHei"/>
                <a:ea typeface="Microsoft YaHei"/>
                <a:cs typeface="Microsoft YaHei"/>
              </a:rPr>
              <a:t>120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FB65D2-85DD-4B79-8AB7-E44A25038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4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AB4C3"/>
                </a:solidFill>
                <a:latin typeface="Microsoft YaHei"/>
                <a:ea typeface="Microsoft YaHei"/>
                <a:cs typeface="Microsoft YaHei"/>
              </a:rPr>
              <a:t>构造样本 samples.json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1E9E83-B9F9-4A17-BAAA-8F16BDC7B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781300"/>
            <a:ext cx="2381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927"/>
          </a:solidFill>
          <a:ln xmlns:a="http://schemas.openxmlformats.org/drawingml/2006/main" w="9525">
            <a:solidFill>
              <a:srgbClr val="2A344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1FE147-E8CC-4536-A541-34446CB2E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33700"/>
            <a:ext cx="2000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4AA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4AA3FF"/>
                </a:solidFill>
                <a:latin typeface="Microsoft YaHei"/>
                <a:ea typeface="Microsoft YaHei"/>
                <a:cs typeface="Microsoft YaHei"/>
              </a:rPr>
              <a:t>60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C1F11C-59D8-4D3D-B57D-534672387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099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4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AB4C3"/>
                </a:solidFill>
                <a:latin typeface="Microsoft YaHei"/>
                <a:ea typeface="Microsoft YaHei"/>
                <a:cs typeface="Microsoft YaHei"/>
              </a:rPr>
              <a:t>最终测试样本 test.json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164D2F-B3F9-4413-B25D-ECC295DFC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781300"/>
            <a:ext cx="2381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927"/>
          </a:solidFill>
          <a:ln xmlns:a="http://schemas.openxmlformats.org/drawingml/2006/main" w="9525">
            <a:solidFill>
              <a:srgbClr val="2A344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B5D7D4-3527-455A-9097-8FC81FBCF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933700"/>
            <a:ext cx="2000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1B8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1B84B"/>
                </a:solidFill>
                <a:latin typeface="Microsoft YaHei"/>
                <a:ea typeface="Microsoft YaHei"/>
                <a:cs typeface="Microsoft YaHei"/>
              </a:rPr>
              <a:t>40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EFB13A-DA1E-4759-8639-0389BFD2F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4099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4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AB4C3"/>
                </a:solidFill>
                <a:latin typeface="Microsoft YaHei"/>
                <a:ea typeface="Microsoft YaHei"/>
                <a:cs typeface="Microsoft YaHei"/>
              </a:rPr>
              <a:t>真实语料风格样本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A4F4C4-2C5E-4CBC-B271-BEC18A2F5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781300"/>
            <a:ext cx="2381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927"/>
          </a:solidFill>
          <a:ln xmlns:a="http://schemas.openxmlformats.org/drawingml/2006/main" w="9525">
            <a:solidFill>
              <a:srgbClr val="2A344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6EC2C8-07FA-461F-9447-9084FE76A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933700"/>
            <a:ext cx="2000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4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4B4B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4F0E64-30A8-4290-A3E6-2F599DD5A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4099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4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AB4C3"/>
                </a:solidFill>
                <a:latin typeface="Microsoft YaHei"/>
                <a:ea typeface="Microsoft YaHei"/>
                <a:cs typeface="Microsoft YaHei"/>
              </a:rPr>
              <a:t>Streamlit 功能页签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1BE3CA-19FF-42DC-8499-1CEBD48FE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577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E28A">
              <a:alpha val="13333"/>
            </a:srgbClr>
          </a:solidFill>
          <a:ln xmlns:a="http://schemas.openxmlformats.org/drawingml/2006/main" w="9525">
            <a:solidFill>
              <a:srgbClr val="50E28A">
                <a:alpha val="33333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0C21C6-BE23-4C5C-A664-7E3F42F92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0E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0E28A"/>
                </a:solidFill>
                <a:latin typeface="Microsoft YaHei"/>
                <a:ea typeface="Microsoft YaHei"/>
                <a:cs typeface="Microsoft YaHei"/>
              </a:rPr>
              <a:t>规则 baseline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60BE7F-4D4A-415D-AEEA-491FCE4A2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45770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A3FF">
              <a:alpha val="13333"/>
            </a:srgbClr>
          </a:solidFill>
          <a:ln xmlns:a="http://schemas.openxmlformats.org/drawingml/2006/main" w="9525">
            <a:solidFill>
              <a:srgbClr val="4AA3FF">
                <a:alpha val="33333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E2FB61-7A14-4FD6-9CD5-FEDC3E00A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514850"/>
            <a:ext cx="1485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AA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4AA3FF"/>
                </a:solidFill>
                <a:latin typeface="Microsoft YaHei"/>
                <a:ea typeface="Microsoft YaHei"/>
                <a:cs typeface="Microsoft YaHei"/>
              </a:rPr>
              <a:t>HanLP / LTP 接口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3ECC60-09D0-4C82-AEE1-7B9AF69B9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457700"/>
            <a:ext cx="133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B84B">
              <a:alpha val="13333"/>
            </a:srgbClr>
          </a:solidFill>
          <a:ln xmlns:a="http://schemas.openxmlformats.org/drawingml/2006/main" w="9525">
            <a:solidFill>
              <a:srgbClr val="F1B84B">
                <a:alpha val="33333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EAD628-0ED0-4F63-A7C7-B4C3BBBD0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514850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1B8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1B84B"/>
                </a:solidFill>
                <a:latin typeface="Microsoft YaHei"/>
                <a:ea typeface="Microsoft YaHei"/>
                <a:cs typeface="Microsoft YaHei"/>
              </a:rPr>
              <a:t>消融实验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2C08ADD-2A73-494A-92E3-8F89EF13C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457700"/>
            <a:ext cx="133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B4B">
              <a:alpha val="13333"/>
            </a:srgbClr>
          </a:solidFill>
          <a:ln xmlns:a="http://schemas.openxmlformats.org/drawingml/2006/main" w="9525">
            <a:solidFill>
              <a:srgbClr val="FF4B4B">
                <a:alpha val="33333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B1331B5-3395-46C0-A2E9-CD3363D10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514850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4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4B4B"/>
                </a:solidFill>
                <a:latin typeface="Microsoft YaHei"/>
                <a:ea typeface="Microsoft YaHei"/>
                <a:cs typeface="Microsoft YaHei"/>
              </a:rPr>
              <a:t>歧义检测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33AAAAB-BC4A-4A67-B64C-200AF210B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19700"/>
            <a:ext cx="1009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最新版本新增：train/dev 词表增强、陌生人名识别、歧义跳过改写、替/帮/为角色规则。</a:t>
            </a:r>
          </a:p>
        </p:txBody>
      </p:sp>
    </p:spTree>
    <p:extLst>
      <p:ext uri="{BB962C8B-B14F-4D97-AF65-F5344CB8AC3E}">
        <p14:creationId xmlns:p14="http://schemas.microsoft.com/office/powerpoint/2010/main" val="51789023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C2E68C8-E08E-4276-928D-6589BF850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1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E3272E-5BFA-4E00-A137-07C976035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627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B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4D1918-577F-4E7D-937D-EA5B5A605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AB4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AAB4C3"/>
                </a:solidFill>
                <a:latin typeface="Microsoft YaHei"/>
                <a:ea typeface="Microsoft YaHei"/>
                <a:cs typeface="Microsoft YaHei"/>
              </a:rPr>
              <a:t>中文指代消解与句子改写系统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FF6108-1B95-4D4B-9ADC-CEDAEB1A7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AB4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AAB4C3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6BA620-26BA-4F70-AEE9-47BE31A76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9100"/>
            <a:ext cx="76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B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06192A-8B48-470E-A76E-6784A25FF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47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4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4B4B"/>
                </a:solidFill>
                <a:latin typeface="Microsoft YaHei"/>
                <a:ea typeface="Microsoft YaHei"/>
                <a:cs typeface="Microsoft YaHei"/>
              </a:rPr>
              <a:t>PROBLEM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82C7F4-7796-45E5-B28D-8083BA905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19150"/>
            <a:ext cx="9334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中文指代消解的难点不只是“找最近名词”。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4BCA1A-E9F8-4BB8-9573-DD1D5B1A3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90700"/>
            <a:ext cx="49530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2A344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A42842-AA92-4569-8D65-C5C73E159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812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0E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0E28A"/>
                </a:solidFill>
                <a:latin typeface="Microsoft YaHei"/>
                <a:ea typeface="Microsoft YaHei"/>
                <a:cs typeface="Microsoft YaHei"/>
              </a:rPr>
              <a:t>可解析样例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C92066-DEF2-4843-881E-47C415D8E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4286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4F7FB"/>
                </a:solidFill>
                <a:latin typeface="Aptos Mono"/>
                <a:ea typeface="Aptos Mono"/>
                <a:cs typeface="Aptos Mono"/>
              </a:defRPr>
            </a:pPr>
            <a:r>
              <a:rPr sz="1650" b="0">
                <a:solidFill>
                  <a:srgbClr val="F4F7FB"/>
                </a:solidFill>
                <a:latin typeface="Aptos Mono"/>
                <a:ea typeface="Aptos Mono"/>
                <a:cs typeface="Aptos Mono"/>
              </a:rPr>
              <a:t>马斯克整理了书，他准备再次确认它。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30AC57-34F1-49CF-BAE4-074AB52E0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19400"/>
            <a:ext cx="381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0E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0E28A"/>
                </a:solidFill>
                <a:latin typeface="Microsoft YaHei"/>
                <a:ea typeface="Microsoft YaHei"/>
                <a:cs typeface="Microsoft YaHei"/>
              </a:rPr>
              <a:t>他 -&gt; 马斯克；它 -&gt; 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B49534-5AE1-406B-9D45-37C421C30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90700"/>
            <a:ext cx="49530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1B20"/>
          </a:solidFill>
          <a:ln xmlns:a="http://schemas.openxmlformats.org/drawingml/2006/main" w="9525">
            <a:solidFill>
              <a:srgbClr val="57313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BBD0F1-EC7D-486D-A59A-65BFEA643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9812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4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4B4B"/>
                </a:solidFill>
                <a:latin typeface="Microsoft YaHei"/>
                <a:ea typeface="Microsoft YaHei"/>
                <a:cs typeface="Microsoft YaHei"/>
              </a:rPr>
              <a:t>真正歧义样例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9EA9EF-4D41-4ECA-9798-B1948AE69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381250"/>
            <a:ext cx="4286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4F7FB"/>
                </a:solidFill>
                <a:latin typeface="Aptos Mono"/>
                <a:ea typeface="Aptos Mono"/>
                <a:cs typeface="Aptos Mono"/>
              </a:defRPr>
            </a:pPr>
            <a:r>
              <a:rPr sz="1575" b="0">
                <a:solidFill>
                  <a:srgbClr val="F4F7FB"/>
                </a:solidFill>
                <a:latin typeface="Aptos Mono"/>
                <a:ea typeface="Aptos Mono"/>
                <a:cs typeface="Aptos Mono"/>
              </a:rPr>
              <a:t>马云会见了马斯克，他对他说了句玩笑话。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506F8F-7147-4B42-BEE9-62C3ABCDA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819400"/>
            <a:ext cx="381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4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4B4B"/>
                </a:solidFill>
                <a:latin typeface="Microsoft YaHei"/>
                <a:ea typeface="Microsoft YaHei"/>
                <a:cs typeface="Microsoft YaHei"/>
              </a:rPr>
              <a:t>两个“他”均可能指向不同人物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DC56AF-987B-407C-AEAC-942174CD3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48100"/>
            <a:ext cx="110490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927"/>
          </a:solidFill>
          <a:ln xmlns:a="http://schemas.openxmlformats.org/drawingml/2006/main" w="9525">
            <a:solidFill>
              <a:srgbClr val="2A344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6AB09B-60D7-42FF-8601-89DEE59B3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57650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AA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4AA3FF"/>
                </a:solidFill>
                <a:latin typeface="Microsoft YaHei"/>
                <a:ea typeface="Microsoft YaHei"/>
                <a:cs typeface="Microsoft YaHei"/>
              </a:rPr>
              <a:t>设计原则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B75EB7-043A-4AA9-A96F-446EFBB0C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76750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能确定时自动改写；候选分数接近或句式天然歧义时，保留原文并提示人工确认。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375AE6-EE60-45F6-A789-3C4752BC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91100"/>
            <a:ext cx="819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B4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AB4C3"/>
                </a:solidFill>
                <a:latin typeface="Microsoft YaHei"/>
                <a:ea typeface="Microsoft YaHei"/>
                <a:cs typeface="Microsoft YaHei"/>
              </a:rPr>
              <a:t>这让系统从“硬猜答案”变成“可解释 + 可控”的 NLP 原型。</a:t>
            </a:r>
          </a:p>
        </p:txBody>
      </p:sp>
    </p:spTree>
    <p:extLst>
      <p:ext uri="{BB962C8B-B14F-4D97-AF65-F5344CB8AC3E}">
        <p14:creationId xmlns:p14="http://schemas.microsoft.com/office/powerpoint/2010/main" val="131700156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A23AE4A-5EB2-4E88-BB5E-C4859C33C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1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04F7B0-729D-4B2B-8EF3-D71E20814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627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B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3CD915-35F0-4593-AC66-9EFCB355A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AB4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AAB4C3"/>
                </a:solidFill>
                <a:latin typeface="Microsoft YaHei"/>
                <a:ea typeface="Microsoft YaHei"/>
                <a:cs typeface="Microsoft YaHei"/>
              </a:rPr>
              <a:t>中文指代消解与句子改写系统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30B65A-9360-42DB-8EE1-1F031AA58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AB4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AAB4C3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D13025-3E19-4693-AE0B-950A3D4CA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9100"/>
            <a:ext cx="76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B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84EAED-0609-4AE0-9BFE-95621230E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47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4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4B4B"/>
                </a:solidFill>
                <a:latin typeface="Microsoft YaHei"/>
                <a:ea typeface="Microsoft YaHei"/>
                <a:cs typeface="Microsoft YaHei"/>
              </a:rPr>
              <a:t>ARCHITECTURE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3AFC3E-58C7-4A6F-B923-85527B484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19150"/>
            <a:ext cx="9334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系统被拆成四段流水线，便于调试和展示。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E1025D-D7FB-4FE3-B63F-D9C81D663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2000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927"/>
          </a:solidFill>
          <a:ln xmlns:a="http://schemas.openxmlformats.org/drawingml/2006/main" w="9525">
            <a:solidFill>
              <a:srgbClr val="FF4B4B">
                <a:alpha val="40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35EE92-76A1-453E-AC6F-F8221CF5B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B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A24EB9-1E33-4854-8CD8-113FD6F27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输入文本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77E2BC-8E49-43BA-9F89-8ED670827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1714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AB4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AB4C3"/>
                </a:solidFill>
                <a:latin typeface="Microsoft YaHei"/>
                <a:ea typeface="Microsoft YaHei"/>
                <a:cs typeface="Microsoft YaHei"/>
              </a:rPr>
              <a:t>Streamlit text_area</a:t>
            </a:r>
          </a:p>
          <a:p xmlns:a="http://schemas.openxmlformats.org/drawingml/2006/main">
            <a:pPr algn="l">
              <a:defRPr sz="1050" b="0">
                <a:solidFill>
                  <a:srgbClr val="AAB4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AB4C3"/>
                </a:solidFill>
                <a:latin typeface="Microsoft YaHei"/>
                <a:ea typeface="Microsoft YaHei"/>
                <a:cs typeface="Microsoft YaHei"/>
              </a:rPr>
              <a:t>自定义或示例文本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8388C0-0C1C-4A00-9F24-94A88ED21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962275"/>
            <a:ext cx="704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4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A34D5E-25A3-4CE1-8F8E-808C4315B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876550"/>
            <a:ext cx="171450" cy="1905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A34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BB8C37-70CB-4F08-8D88-21D879504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400300"/>
            <a:ext cx="2000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927"/>
          </a:solidFill>
          <a:ln xmlns:a="http://schemas.openxmlformats.org/drawingml/2006/main" w="9525">
            <a:solidFill>
              <a:srgbClr val="4AA3FF">
                <a:alpha val="4000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9CCB20-C634-4BFD-B709-39927ECEC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400300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A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A2244C-0824-4F46-A448-7102C9A28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5336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Mention 抽取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7E0542-80DC-4849-B509-7049625F6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857500"/>
            <a:ext cx="1714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AB4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AB4C3"/>
                </a:solidFill>
                <a:latin typeface="Microsoft YaHei"/>
                <a:ea typeface="Microsoft YaHei"/>
                <a:cs typeface="Microsoft YaHei"/>
              </a:rPr>
              <a:t>代词识别</a:t>
            </a:r>
          </a:p>
          <a:p xmlns:a="http://schemas.openxmlformats.org/drawingml/2006/main">
            <a:pPr algn="l">
              <a:defRPr sz="1050" b="0">
                <a:solidFill>
                  <a:srgbClr val="AAB4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AB4C3"/>
                </a:solidFill>
                <a:latin typeface="Microsoft YaHei"/>
                <a:ea typeface="Microsoft YaHei"/>
                <a:cs typeface="Microsoft YaHei"/>
              </a:rPr>
              <a:t>候选实体抽取</a:t>
            </a:r>
          </a:p>
          <a:p xmlns:a="http://schemas.openxmlformats.org/drawingml/2006/main">
            <a:pPr algn="l">
              <a:defRPr sz="1050" b="0">
                <a:solidFill>
                  <a:srgbClr val="AAB4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AB4C3"/>
                </a:solidFill>
                <a:latin typeface="Microsoft YaHei"/>
                <a:ea typeface="Microsoft YaHei"/>
                <a:cs typeface="Microsoft YaHei"/>
              </a:rPr>
              <a:t>词表增强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147FB0-F46E-44D4-A4A9-A1B1E7B8C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962275"/>
            <a:ext cx="704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4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76BAD7-DCD1-42E6-ABCC-94871AD1C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876550"/>
            <a:ext cx="171450" cy="1905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A34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C3D7CF-4B27-4745-9C93-4F38D71AB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400300"/>
            <a:ext cx="22479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927"/>
          </a:solidFill>
          <a:ln xmlns:a="http://schemas.openxmlformats.org/drawingml/2006/main" w="9525">
            <a:solidFill>
              <a:srgbClr val="F1B84B">
                <a:alpha val="4000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734C43-75B6-4264-A853-F06F16B0F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400300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B7DC23-6E70-4624-9B40-54880CB60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533650"/>
            <a:ext cx="1962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Resolver 打分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563D3F-2F25-4D2A-A165-D9D91C5BE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857500"/>
            <a:ext cx="1962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AB4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AB4C3"/>
                </a:solidFill>
                <a:latin typeface="Microsoft YaHei"/>
                <a:ea typeface="Microsoft YaHei"/>
                <a:cs typeface="Microsoft YaHei"/>
              </a:rPr>
              <a:t>距离 / 位置 / 类型 / 性别</a:t>
            </a:r>
          </a:p>
          <a:p xmlns:a="http://schemas.openxmlformats.org/drawingml/2006/main">
            <a:pPr algn="l">
              <a:defRPr sz="1050" b="0">
                <a:solidFill>
                  <a:srgbClr val="AAB4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AB4C3"/>
                </a:solidFill>
                <a:latin typeface="Microsoft YaHei"/>
                <a:ea typeface="Microsoft YaHei"/>
                <a:cs typeface="Microsoft YaHei"/>
              </a:rPr>
              <a:t>角色规则 / 歧义检测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F07391-9461-42E7-A9BA-EF33E6D29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962275"/>
            <a:ext cx="704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4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FF2CFC-9D8E-45A5-B896-8BF06EF18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876550"/>
            <a:ext cx="171450" cy="1905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A34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018852-F3D7-4024-97C7-B9ED1450F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2400300"/>
            <a:ext cx="14859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927"/>
          </a:solidFill>
          <a:ln xmlns:a="http://schemas.openxmlformats.org/drawingml/2006/main" w="9525">
            <a:solidFill>
              <a:srgbClr val="50E28A">
                <a:alpha val="4000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441B701-66D3-4E9B-A786-A4E23AAC0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2400300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E2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47414C1-6D7C-4470-92D0-022449E77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2533650"/>
            <a:ext cx="1200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改写与评估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CF662B6-C4C5-4CDE-BC72-04D462E7E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2857500"/>
            <a:ext cx="1200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AB4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AB4C3"/>
                </a:solidFill>
                <a:latin typeface="Microsoft YaHei"/>
                <a:ea typeface="Microsoft YaHei"/>
                <a:cs typeface="Microsoft YaHei"/>
              </a:rPr>
              <a:t>rewrite_text</a:t>
            </a:r>
          </a:p>
          <a:p xmlns:a="http://schemas.openxmlformats.org/drawingml/2006/main">
            <a:pPr algn="l">
              <a:defRPr sz="1050" b="0">
                <a:solidFill>
                  <a:srgbClr val="AAB4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AB4C3"/>
                </a:solidFill>
                <a:latin typeface="Microsoft YaHei"/>
                <a:ea typeface="Microsoft YaHei"/>
                <a:cs typeface="Microsoft YaHei"/>
              </a:rPr>
              <a:t>Precision / Recall / F1</a:t>
            </a:r>
          </a:p>
          <a:p xmlns:a="http://schemas.openxmlformats.org/drawingml/2006/main">
            <a:pPr algn="l">
              <a:defRPr sz="1050" b="0">
                <a:solidFill>
                  <a:srgbClr val="AAB4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AB4C3"/>
                </a:solidFill>
                <a:latin typeface="Microsoft YaHei"/>
                <a:ea typeface="Microsoft YaHei"/>
                <a:cs typeface="Microsoft YaHei"/>
              </a:rPr>
              <a:t>错误分析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6CB5500-4423-4726-B473-772C6C2D1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AA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AA3FF"/>
                </a:solidFill>
                <a:latin typeface="Microsoft YaHei"/>
                <a:ea typeface="Microsoft YaHei"/>
                <a:cs typeface="Microsoft YaHei"/>
              </a:rPr>
              <a:t>核心模块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2FF00C9-63F5-4871-BB53-9ADEBBB3A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10287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src/mention_extractor.py     src/resolver.py     src/rewriter.py     src/evaluator.py     app.py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58799BE-7F3D-43AF-AF07-949777958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838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AB4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AAB4C3"/>
                </a:solidFill>
                <a:latin typeface="Microsoft YaHei"/>
                <a:ea typeface="Microsoft YaHei"/>
                <a:cs typeface="Microsoft YaHei"/>
              </a:rPr>
              <a:t>HanLP / LTP 作为可选后端接口，未安装时自动回退到规则 baseline。</a:t>
            </a:r>
          </a:p>
        </p:txBody>
      </p:sp>
    </p:spTree>
    <p:extLst>
      <p:ext uri="{BB962C8B-B14F-4D97-AF65-F5344CB8AC3E}">
        <p14:creationId xmlns:p14="http://schemas.microsoft.com/office/powerpoint/2010/main" val="46589250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ED5ABC9-B5C7-4CA8-B33A-EB12C4721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1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CD15C5-13DE-4D65-990B-1732C2B43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627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B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3B5860-D100-47AB-8D5E-34836DEA2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AB4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AAB4C3"/>
                </a:solidFill>
                <a:latin typeface="Microsoft YaHei"/>
                <a:ea typeface="Microsoft YaHei"/>
                <a:cs typeface="Microsoft YaHei"/>
              </a:rPr>
              <a:t>中文指代消解与句子改写系统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151EB5-3589-4943-9FA0-571CF8C73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AB4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AAB4C3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5293E1-5DD6-4DFD-9987-5BD84D1A4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9100"/>
            <a:ext cx="76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B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809AB7-D993-4DBC-9DEB-1F865C730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47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4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4B4B"/>
                </a:solidFill>
                <a:latin typeface="Microsoft YaHei"/>
                <a:ea typeface="Microsoft YaHei"/>
                <a:cs typeface="Microsoft YaHei"/>
              </a:rPr>
              <a:t>DATA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6D03DE-68B4-4F72-BA2C-36EEE215C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19150"/>
            <a:ext cx="9334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数据集按用途拆分，避免演示、调参与测试混在一起。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575B0C-8E79-4CC8-85AB-49E44A580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09750"/>
            <a:ext cx="596265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927"/>
          </a:solidFill>
          <a:ln xmlns:a="http://schemas.openxmlformats.org/drawingml/2006/main" w="9525">
            <a:solidFill>
              <a:srgbClr val="2A344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45661B-8EDB-451E-8568-DC3A2665A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574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AA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AA3FF"/>
                </a:solidFill>
                <a:latin typeface="Microsoft YaHei"/>
                <a:ea typeface="Microsoft YaHei"/>
                <a:cs typeface="Microsoft YaHei"/>
              </a:rPr>
              <a:t>数据文件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E85AEC-F358-4A42-858A-59C10B9F4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057400"/>
            <a:ext cx="76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AA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AA3FF"/>
                </a:solidFill>
                <a:latin typeface="Microsoft YaHei"/>
                <a:ea typeface="Microsoft YaHei"/>
                <a:cs typeface="Microsoft YaHei"/>
              </a:rPr>
              <a:t>条数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89C661-F1E6-4B4C-9C02-1DD5C4461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AA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AA3FF"/>
                </a:solidFill>
                <a:latin typeface="Microsoft YaHei"/>
                <a:ea typeface="Microsoft YaHei"/>
                <a:cs typeface="Microsoft YaHei"/>
              </a:rPr>
              <a:t>用途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C279DA-D05F-4C90-8F3C-8C36E9ABC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3840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4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6C50C7-A472-4909-9091-92B1EF910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146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demo.json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EABDB5-04BA-42D3-8F4D-08F42A16A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514600"/>
            <a:ext cx="76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0E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0E28A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3F7A6D-897B-4C3D-B5A9-DDCB496B6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146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4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AB4C3"/>
                </a:solidFill>
                <a:latin typeface="Microsoft YaHei"/>
                <a:ea typeface="Microsoft YaHei"/>
                <a:cs typeface="Microsoft YaHei"/>
              </a:rPr>
              <a:t>页面演示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CE59A2-BB42-4013-87B6-50BCF4C79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7655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4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F67F07-D5EE-410C-9777-58597EB29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527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dev.json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A552B9-55E6-4716-9B02-06D5BC582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952750"/>
            <a:ext cx="76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0E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0E28A"/>
                </a:solidFill>
                <a:latin typeface="Microsoft YaHei"/>
                <a:ea typeface="Microsoft YaHei"/>
                <a:cs typeface="Microsoft YaHei"/>
              </a:rPr>
              <a:t>50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ED85AF-6656-4617-9110-9879E2866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527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4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AB4C3"/>
                </a:solidFill>
                <a:latin typeface="Microsoft YaHei"/>
                <a:ea typeface="Microsoft YaHei"/>
                <a:cs typeface="Microsoft YaHei"/>
              </a:rPr>
              <a:t>规则调试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481927-88B0-43CF-A9A6-73AE9E3D2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1470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4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941531-9A5E-47B3-9379-785DF705A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909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test.json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BA89DB-69A4-4005-9B9E-8B0430204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390900"/>
            <a:ext cx="76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0E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0E28A"/>
                </a:solidFill>
                <a:latin typeface="Microsoft YaHei"/>
                <a:ea typeface="Microsoft YaHei"/>
                <a:cs typeface="Microsoft YaHei"/>
              </a:rPr>
              <a:t>60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819965-9B69-47A0-836B-AF36390DA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909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4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AB4C3"/>
                </a:solidFill>
                <a:latin typeface="Microsoft YaHei"/>
                <a:ea typeface="Microsoft YaHei"/>
                <a:cs typeface="Microsoft YaHei"/>
              </a:rPr>
              <a:t>最终评估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E32FE4-B17F-4F57-A3FA-0BF093DB3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5285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4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FEC4F7-556E-4904-A05D-DD58D9CCF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290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real_corpus.json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8C3603-A983-4D25-BD00-1158BDFD2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829050"/>
            <a:ext cx="76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0E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0E28A"/>
                </a:solidFill>
                <a:latin typeface="Microsoft YaHei"/>
                <a:ea typeface="Microsoft YaHei"/>
                <a:cs typeface="Microsoft YaHei"/>
              </a:rPr>
              <a:t>40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32ADAC1-BC33-4096-BE01-5C91EB3FB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290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4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AB4C3"/>
                </a:solidFill>
                <a:latin typeface="Microsoft YaHei"/>
                <a:ea typeface="Microsoft YaHei"/>
                <a:cs typeface="Microsoft YaHei"/>
              </a:rPr>
              <a:t>真实语料压力测试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AC9A9E-2A3C-4157-A283-D1F1AED29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9100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4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617B149-3BA4-40A8-9940-F633339BC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samples.json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C298B9C-074C-4972-A4DF-34D796D14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267200"/>
            <a:ext cx="76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0E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0E28A"/>
                </a:solidFill>
                <a:latin typeface="Microsoft YaHei"/>
                <a:ea typeface="Microsoft YaHei"/>
                <a:cs typeface="Microsoft YaHei"/>
              </a:rPr>
              <a:t>120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51F1299-4A4C-4324-9931-F35EAA489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4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AB4C3"/>
                </a:solidFill>
                <a:latin typeface="Microsoft YaHei"/>
                <a:ea typeface="Microsoft YaHei"/>
                <a:cs typeface="Microsoft YaHei"/>
              </a:rPr>
              <a:t>完整构造样本备份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F564F88-62F7-4CD5-BCA8-27CF642FD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943100"/>
            <a:ext cx="36766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F25"/>
          </a:solidFill>
          <a:ln xmlns:a="http://schemas.openxmlformats.org/drawingml/2006/main" w="9525">
            <a:solidFill>
              <a:srgbClr val="266C4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14CC6B3-FEA3-4CDB-9623-6AD464027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228850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0E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50E28A"/>
                </a:solidFill>
                <a:latin typeface="Microsoft YaHei"/>
                <a:ea typeface="Microsoft YaHei"/>
                <a:cs typeface="Microsoft YaHei"/>
              </a:rPr>
              <a:t>新增策略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2A0DF07-AB02-4FF0-A71D-BE87F09B2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743200"/>
            <a:ext cx="2857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读取 train/dev/demo 中已标注的 pronoun 与 antecedent，并入运行时词表。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72B9BB9-FCFE-43BA-ADAB-7ED167D54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84810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1B8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1B84B"/>
                </a:solidFill>
                <a:latin typeface="Microsoft YaHei"/>
                <a:ea typeface="Microsoft YaHei"/>
                <a:cs typeface="Microsoft YaHei"/>
              </a:rPr>
              <a:t>不读取 test.json，避免评估数据泄漏。</a:t>
            </a:r>
          </a:p>
        </p:txBody>
      </p:sp>
    </p:spTree>
    <p:extLst>
      <p:ext uri="{BB962C8B-B14F-4D97-AF65-F5344CB8AC3E}">
        <p14:creationId xmlns:p14="http://schemas.microsoft.com/office/powerpoint/2010/main" val="211774395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D3E8C99-2060-4DAB-B13C-EC967DAFE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1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7AC247-0A59-4A4D-8F78-14A6C3B16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627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B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9DBB50-1891-4C8B-AFCE-D0ABD9BE0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AB4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AAB4C3"/>
                </a:solidFill>
                <a:latin typeface="Microsoft YaHei"/>
                <a:ea typeface="Microsoft YaHei"/>
                <a:cs typeface="Microsoft YaHei"/>
              </a:rPr>
              <a:t>中文指代消解与句子改写系统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743C89-99E5-4961-A9FB-A524C31B5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AB4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AAB4C3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83890F-6327-4A5E-8459-C6DF93B48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9100"/>
            <a:ext cx="76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B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14CB12-3D05-4BF5-8125-EF7EE54C9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47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4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4B4B"/>
                </a:solidFill>
                <a:latin typeface="Microsoft YaHei"/>
                <a:ea typeface="Microsoft YaHei"/>
                <a:cs typeface="Microsoft YaHei"/>
              </a:rPr>
              <a:t>RULE ENGINE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291D7E-E7F1-4ACC-A48B-22DC13A1F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19150"/>
            <a:ext cx="9334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候选先行词不是黑箱预测，而是由多类证据共同打分。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01548D-31F2-401F-837F-5ADA6704D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71650"/>
            <a:ext cx="5334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927"/>
          </a:solidFill>
          <a:ln xmlns:a="http://schemas.openxmlformats.org/drawingml/2006/main" w="9525">
            <a:solidFill>
              <a:srgbClr val="2A344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1544E7-518E-42C4-9ECC-0DAE5608A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14550"/>
            <a:ext cx="476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0E28A"/>
                </a:solidFill>
                <a:latin typeface="Aptos Mono"/>
                <a:ea typeface="Aptos Mono"/>
                <a:cs typeface="Aptos Mono"/>
              </a:defRPr>
            </a:pPr>
            <a:r>
              <a:rPr sz="1800" b="0">
                <a:solidFill>
                  <a:srgbClr val="50E28A"/>
                </a:solidFill>
                <a:latin typeface="Aptos Mono"/>
                <a:ea typeface="Aptos Mono"/>
                <a:cs typeface="Aptos Mono"/>
              </a:rPr>
              <a:t>final_score = distance + position + type + gender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7450E8-8582-4C4C-A56E-9F7F399A0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861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927"/>
          </a:solidFill>
          <a:ln xmlns:a="http://schemas.openxmlformats.org/drawingml/2006/main" w="9525">
            <a:solidFill>
              <a:srgbClr val="4AA3FF">
                <a:alpha val="40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630A31-9B05-4200-851A-C3DD9190A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86150"/>
            <a:ext cx="57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A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0A8FC7-A160-4B39-AADE-1BECFA145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195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距离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DDDE94-648E-4145-8F00-CC42A6354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43350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AB4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AB4C3"/>
                </a:solidFill>
                <a:latin typeface="Microsoft YaHei"/>
                <a:ea typeface="Microsoft YaHei"/>
                <a:cs typeface="Microsoft YaHei"/>
              </a:rPr>
              <a:t>候选离代词越近越高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959E3E-B182-486B-9068-B91584E40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4861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927"/>
          </a:solidFill>
          <a:ln xmlns:a="http://schemas.openxmlformats.org/drawingml/2006/main" w="9525">
            <a:solidFill>
              <a:srgbClr val="F1B84B">
                <a:alpha val="4000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54FAFB-4D95-49A4-A33A-CBA9611BA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486150"/>
            <a:ext cx="57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05C16E-E6AA-49FB-84EE-F7465050D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6195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位置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152E99-CDDF-4E8F-9315-99B79440E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943350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AB4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AB4C3"/>
                </a:solidFill>
                <a:latin typeface="Microsoft YaHei"/>
                <a:ea typeface="Microsoft YaHei"/>
                <a:cs typeface="Microsoft YaHei"/>
              </a:rPr>
              <a:t>候选通常应在代词之前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C0E175-E490-4AC4-A473-4D76BED45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4861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927"/>
          </a:solidFill>
          <a:ln xmlns:a="http://schemas.openxmlformats.org/drawingml/2006/main" w="9525">
            <a:solidFill>
              <a:srgbClr val="50E28A">
                <a:alpha val="4000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C0849E-0116-46BB-86CC-6585D61C4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486150"/>
            <a:ext cx="57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E2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30E090-9E0E-4045-87F4-C1FDB4F5B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195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类型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12E37F-5524-44BA-B70C-4FB4CCB6B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943350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AB4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AB4C3"/>
                </a:solidFill>
                <a:latin typeface="Microsoft YaHei"/>
                <a:ea typeface="Microsoft YaHei"/>
                <a:cs typeface="Microsoft YaHei"/>
              </a:rPr>
              <a:t>人称代词匹配 PERSON；它匹配 OBJECT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9AAB3E-74E4-4535-9E3A-487FEF0B6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4861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927"/>
          </a:solidFill>
          <a:ln xmlns:a="http://schemas.openxmlformats.org/drawingml/2006/main" w="9525">
            <a:solidFill>
              <a:srgbClr val="FF4B4B">
                <a:alpha val="4000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0D3351-C312-402E-B4C5-0C67C085B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486150"/>
            <a:ext cx="57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B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C9D534-E1AD-424B-93E2-ACECA01AF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6195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性别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D8340D-391B-4530-AAA3-28079C512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943350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AB4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AB4C3"/>
                </a:solidFill>
                <a:latin typeface="Microsoft YaHei"/>
                <a:ea typeface="Microsoft YaHei"/>
                <a:cs typeface="Microsoft YaHei"/>
              </a:rPr>
              <a:t>他/她与已知姓名性别线索匹配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B3B0B6B-8CDC-4FFB-9AAB-75BC6F998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05400"/>
            <a:ext cx="876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输出不只给结论，还展示候选得分与理由，便于报告中的错误分析。</a:t>
            </a:r>
          </a:p>
        </p:txBody>
      </p:sp>
    </p:spTree>
    <p:extLst>
      <p:ext uri="{BB962C8B-B14F-4D97-AF65-F5344CB8AC3E}">
        <p14:creationId xmlns:p14="http://schemas.microsoft.com/office/powerpoint/2010/main" val="99883692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89608D0-34AF-462F-8027-74C0A746F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1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A29BDA-2B5E-477D-AFA2-29CB54864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627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B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BB5B36-27DA-4E32-A64C-68DC39B63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AB4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AAB4C3"/>
                </a:solidFill>
                <a:latin typeface="Microsoft YaHei"/>
                <a:ea typeface="Microsoft YaHei"/>
                <a:cs typeface="Microsoft YaHei"/>
              </a:rPr>
              <a:t>中文指代消解与句子改写系统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13E562-B78F-4470-A438-8070A6049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AB4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AAB4C3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13AB0F-7DDB-4FB1-BACF-7911A25E8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9100"/>
            <a:ext cx="76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B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2DF56A-682F-4984-8D5F-47933F1F8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47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4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4B4B"/>
                </a:solidFill>
                <a:latin typeface="Microsoft YaHei"/>
                <a:ea typeface="Microsoft YaHei"/>
                <a:cs typeface="Microsoft YaHei"/>
              </a:rPr>
              <a:t>UPDATES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F20F74-C999-41C3-881D-F6C56611A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19150"/>
            <a:ext cx="9334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这一版把“能跑”推进到“更像真实系统”。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F3F28A-0E8E-4F5B-A904-6FDB77D3C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28800"/>
            <a:ext cx="4762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927"/>
          </a:solidFill>
          <a:ln xmlns:a="http://schemas.openxmlformats.org/drawingml/2006/main" w="9525">
            <a:solidFill>
              <a:srgbClr val="50E28A">
                <a:alpha val="40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44FA39-6E91-472B-9378-3611F5288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2880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E2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0EBA12-B043-431F-B91B-216423C64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1930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50E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50E28A"/>
                </a:solidFill>
                <a:latin typeface="Microsoft YaHei"/>
                <a:ea typeface="Microsoft YaHei"/>
                <a:cs typeface="Microsoft YaHei"/>
              </a:rPr>
              <a:t>弱监督词表增强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7B0068-35E8-4693-A4D1-9A82ABFF0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19350"/>
            <a:ext cx="4038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从 train/dev/demo 标注中收集 pronoun 和 antecedent，补充运行时词表。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8499AF-57C4-4351-A7AA-81AA2217F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28800"/>
            <a:ext cx="4762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927"/>
          </a:solidFill>
          <a:ln xmlns:a="http://schemas.openxmlformats.org/drawingml/2006/main" w="9525">
            <a:solidFill>
              <a:srgbClr val="4AA3FF">
                <a:alpha val="40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621F43-8D22-498D-8CE1-088A16C7A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2880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A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613266-A508-4E84-8D49-1F4872723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1930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4AA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4AA3FF"/>
                </a:solidFill>
                <a:latin typeface="Microsoft YaHei"/>
                <a:ea typeface="Microsoft YaHei"/>
                <a:cs typeface="Microsoft YaHei"/>
              </a:rPr>
              <a:t>陌生人名识别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264DBE-2C02-4A13-B9DC-655D8C56D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19350"/>
            <a:ext cx="4038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常见中文姓氏 + 动词截断，解决“马斯克整”“马斯克替”等过长匹配。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C99B3E-497D-4852-BD9F-04EB727C0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67100"/>
            <a:ext cx="4762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927"/>
          </a:solidFill>
          <a:ln xmlns:a="http://schemas.openxmlformats.org/drawingml/2006/main" w="9525">
            <a:solidFill>
              <a:srgbClr val="FF4B4B">
                <a:alpha val="4000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00C401-338B-4E43-B935-6F5CBDD36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6710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B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F2C603-C5FE-49B6-A9D6-4AD562FD5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5760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4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4B4B"/>
                </a:solidFill>
                <a:latin typeface="Microsoft YaHei"/>
                <a:ea typeface="Microsoft YaHei"/>
                <a:cs typeface="Microsoft YaHei"/>
              </a:rPr>
              <a:t>歧义检测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FC13E2-17A8-477F-851C-B966A526E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57650"/>
            <a:ext cx="4038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候选分数接近时标记 ambiguous，改写器跳过自动替换。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557EC0-38A8-4FEB-A00A-FEE7C8A83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467100"/>
            <a:ext cx="4762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927"/>
          </a:solidFill>
          <a:ln xmlns:a="http://schemas.openxmlformats.org/drawingml/2006/main" w="9525">
            <a:solidFill>
              <a:srgbClr val="F1B84B">
                <a:alpha val="4000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6F1504-28C3-4F58-A278-7D6FF7E70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46710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A33E10-D587-4BCC-9CAC-F6B74F93A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65760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1B8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1B84B"/>
                </a:solidFill>
                <a:latin typeface="Microsoft YaHei"/>
                <a:ea typeface="Microsoft YaHei"/>
                <a:cs typeface="Microsoft YaHei"/>
              </a:rPr>
              <a:t>角色规则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09A68A-3051-4884-BDCF-C1FE910A7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057650"/>
            <a:ext cx="4038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A 替/帮/为 B 做事：主语代词指 A，介词后代词指 B。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460859-2D13-43A0-9CDE-E873C2C31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48300"/>
            <a:ext cx="742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B4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AB4C3"/>
                </a:solidFill>
                <a:latin typeface="Microsoft YaHei"/>
                <a:ea typeface="Microsoft YaHei"/>
                <a:cs typeface="Microsoft YaHei"/>
              </a:rPr>
              <a:t>修改集中在 mention_extractor.py / resolver.py / rewriter.py / app.py。</a:t>
            </a:r>
          </a:p>
        </p:txBody>
      </p:sp>
    </p:spTree>
    <p:extLst>
      <p:ext uri="{BB962C8B-B14F-4D97-AF65-F5344CB8AC3E}">
        <p14:creationId xmlns:p14="http://schemas.microsoft.com/office/powerpoint/2010/main" val="21829032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965242C-56B2-4BFE-ACEE-65937ABBF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1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C2038B-A2C5-4014-9A70-FA17EAD85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627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B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240A7A-CE73-4E51-ACF6-498292D66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AB4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AAB4C3"/>
                </a:solidFill>
                <a:latin typeface="Microsoft YaHei"/>
                <a:ea typeface="Microsoft YaHei"/>
                <a:cs typeface="Microsoft YaHei"/>
              </a:rPr>
              <a:t>中文指代消解与句子改写系统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C270C6-8B47-47C9-AE65-13E800C1F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AB4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AAB4C3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1906AC-BAB2-4F2A-919D-E56CF7791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9100"/>
            <a:ext cx="76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B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A6D6F9-7EA3-4720-A661-01AB28397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47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4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4B4B"/>
                </a:solidFill>
                <a:latin typeface="Microsoft YaHei"/>
                <a:ea typeface="Microsoft YaHei"/>
                <a:cs typeface="Microsoft YaHei"/>
              </a:rPr>
              <a:t>AMBIGUITY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742BE2-CD58-4531-AD4F-E9795BA98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19150"/>
            <a:ext cx="9334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系统现在会区分“可解析线索”和“真实歧义”。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996F43-A0B7-4724-83BD-90401409D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4953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F25"/>
          </a:solidFill>
          <a:ln xmlns:a="http://schemas.openxmlformats.org/drawingml/2006/main" w="9525">
            <a:solidFill>
              <a:srgbClr val="266C4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FD43D7-36EB-4577-B00A-C39532322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6215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0E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50E28A"/>
                </a:solidFill>
                <a:latin typeface="Microsoft YaHei"/>
                <a:ea typeface="Microsoft YaHei"/>
                <a:cs typeface="Microsoft YaHei"/>
              </a:rPr>
              <a:t>可解析：替/帮/为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4AF6EF-B104-4761-8146-106DED869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4F7FB"/>
                </a:solidFill>
                <a:latin typeface="Aptos Mono"/>
                <a:ea typeface="Aptos Mono"/>
                <a:cs typeface="Aptos Mono"/>
              </a:defRPr>
            </a:pPr>
            <a:r>
              <a:rPr sz="1500" b="0">
                <a:solidFill>
                  <a:srgbClr val="F4F7FB"/>
                </a:solidFill>
                <a:latin typeface="Aptos Mono"/>
                <a:ea typeface="Aptos Mono"/>
                <a:cs typeface="Aptos Mono"/>
              </a:rPr>
              <a:t>马斯克替马云整理了书，</a:t>
            </a:r>
          </a:p>
          <a:p xmlns:a="http://schemas.openxmlformats.org/drawingml/2006/main">
            <a:pPr algn="l">
              <a:defRPr sz="1500" b="0">
                <a:solidFill>
                  <a:srgbClr val="F4F7FB"/>
                </a:solidFill>
                <a:latin typeface="Aptos Mono"/>
                <a:ea typeface="Aptos Mono"/>
                <a:cs typeface="Aptos Mono"/>
              </a:defRPr>
            </a:pPr>
            <a:r>
              <a:rPr sz="1500" b="0">
                <a:solidFill>
                  <a:srgbClr val="F4F7FB"/>
                </a:solidFill>
                <a:latin typeface="Aptos Mono"/>
                <a:ea typeface="Aptos Mono"/>
                <a:cs typeface="Aptos Mono"/>
              </a:rPr>
              <a:t>他准备替他再次确认它。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471BBC-CA40-41A4-AFD5-0C5B3CFAE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90850"/>
            <a:ext cx="390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0E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0E28A"/>
                </a:solidFill>
                <a:latin typeface="Microsoft YaHei"/>
                <a:ea typeface="Microsoft YaHei"/>
                <a:cs typeface="Microsoft YaHei"/>
              </a:rPr>
              <a:t>=&gt; 马斯克准备替马云再次确认书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FDF0AE-1358-4418-B4B4-43760DE17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752600"/>
            <a:ext cx="4953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1B20"/>
          </a:solidFill>
          <a:ln xmlns:a="http://schemas.openxmlformats.org/drawingml/2006/main" w="9525">
            <a:solidFill>
              <a:srgbClr val="57313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F950E4-69F5-4749-9150-E47B513B2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9621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4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4B4B"/>
                </a:solidFill>
                <a:latin typeface="Microsoft YaHei"/>
                <a:ea typeface="Microsoft YaHei"/>
                <a:cs typeface="Microsoft YaHei"/>
              </a:rPr>
              <a:t>保留歧义：他对他说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F58940-9393-4AD9-9A2E-D4BD210FC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381250"/>
            <a:ext cx="400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4F7FB"/>
                </a:solidFill>
                <a:latin typeface="Aptos Mono"/>
                <a:ea typeface="Aptos Mono"/>
                <a:cs typeface="Aptos Mono"/>
              </a:defRPr>
            </a:pPr>
            <a:r>
              <a:rPr sz="1500" b="0">
                <a:solidFill>
                  <a:srgbClr val="F4F7FB"/>
                </a:solidFill>
                <a:latin typeface="Aptos Mono"/>
                <a:ea typeface="Aptos Mono"/>
                <a:cs typeface="Aptos Mono"/>
              </a:rPr>
              <a:t>马云会见了马斯克，</a:t>
            </a:r>
          </a:p>
          <a:p xmlns:a="http://schemas.openxmlformats.org/drawingml/2006/main">
            <a:pPr algn="l">
              <a:defRPr sz="1500" b="0">
                <a:solidFill>
                  <a:srgbClr val="F4F7FB"/>
                </a:solidFill>
                <a:latin typeface="Aptos Mono"/>
                <a:ea typeface="Aptos Mono"/>
                <a:cs typeface="Aptos Mono"/>
              </a:defRPr>
            </a:pPr>
            <a:r>
              <a:rPr sz="1500" b="0">
                <a:solidFill>
                  <a:srgbClr val="F4F7FB"/>
                </a:solidFill>
                <a:latin typeface="Aptos Mono"/>
                <a:ea typeface="Aptos Mono"/>
                <a:cs typeface="Aptos Mono"/>
              </a:rPr>
              <a:t>他对他说了句玩笑话。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49C694-4790-4139-9E6B-A9876C6BD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990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4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4B4B"/>
                </a:solidFill>
                <a:latin typeface="Microsoft YaHei"/>
                <a:ea typeface="Microsoft YaHei"/>
                <a:cs typeface="Microsoft YaHei"/>
              </a:rPr>
              <a:t>=&gt; 候选接近，提示人工确认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5289E1-A388-4DD6-8CBA-5E7669B5F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171950"/>
            <a:ext cx="2190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927"/>
          </a:solidFill>
          <a:ln xmlns:a="http://schemas.openxmlformats.org/drawingml/2006/main" w="9525">
            <a:solidFill>
              <a:srgbClr val="2A344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FECDC8-9D9B-4371-B4D3-43F1D4288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38150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候选分数接近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46CE42-4188-4ECF-9D5B-2BF053227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486275"/>
            <a:ext cx="838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4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51A9B3-1500-4BA2-A060-C1FB09C68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400550"/>
            <a:ext cx="171450" cy="1905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A34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61FCEF-D769-451D-A3E0-73C327A54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171950"/>
            <a:ext cx="2190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927"/>
          </a:solidFill>
          <a:ln xmlns:a="http://schemas.openxmlformats.org/drawingml/2006/main" w="9525">
            <a:solidFill>
              <a:srgbClr val="2A344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8D7D99-AED5-44A0-A1B4-B5D3E5440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38150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1B8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1B84B"/>
                </a:solidFill>
                <a:latin typeface="Microsoft YaHei"/>
                <a:ea typeface="Microsoft YaHei"/>
                <a:cs typeface="Microsoft YaHei"/>
              </a:rPr>
              <a:t>标记 ambiguous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60A5D6-A2F8-45FA-A866-6AC18A1D5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486275"/>
            <a:ext cx="838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4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62E653-6174-4705-B1CC-48385D157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400550"/>
            <a:ext cx="171450" cy="1905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A34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5F3A53-07A0-40DB-8BB7-092988877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171950"/>
            <a:ext cx="2190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927"/>
          </a:solidFill>
          <a:ln xmlns:a="http://schemas.openxmlformats.org/drawingml/2006/main" w="9525">
            <a:solidFill>
              <a:srgbClr val="2A344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FB42FC-968E-46AC-9A68-637B072A5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38150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0E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0E28A"/>
                </a:solidFill>
                <a:latin typeface="Microsoft YaHei"/>
                <a:ea typeface="Microsoft YaHei"/>
                <a:cs typeface="Microsoft YaHei"/>
              </a:rPr>
              <a:t>跳过自动改写</a:t>
            </a:r>
          </a:p>
        </p:txBody>
      </p:sp>
    </p:spTree>
    <p:extLst>
      <p:ext uri="{BB962C8B-B14F-4D97-AF65-F5344CB8AC3E}">
        <p14:creationId xmlns:p14="http://schemas.microsoft.com/office/powerpoint/2010/main" val="199858291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FE63DE8-6467-462E-8762-27A1454B6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1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59194B-156C-414E-BBB5-A55054CBA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627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B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32193C-7B36-4E0F-81BA-3691B24BA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AB4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AAB4C3"/>
                </a:solidFill>
                <a:latin typeface="Microsoft YaHei"/>
                <a:ea typeface="Microsoft YaHei"/>
                <a:cs typeface="Microsoft YaHei"/>
              </a:rPr>
              <a:t>中文指代消解与句子改写系统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EAC08A-3636-4379-B5FF-7A6A353F5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AB4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AAB4C3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E1E87E-119D-4E3C-9EBD-8F9CD440C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9100"/>
            <a:ext cx="76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B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00A1C8-577A-40A0-8291-BB0BE86EA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47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4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4B4B"/>
                </a:solidFill>
                <a:latin typeface="Microsoft YaHei"/>
                <a:ea typeface="Microsoft YaHei"/>
                <a:cs typeface="Microsoft YaHei"/>
              </a:rPr>
              <a:t>ABLATION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2D32C5-453C-424A-A2AB-F6968691A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19150"/>
            <a:ext cx="9334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消融实验说明：类型规则和距离规则承担了主要判断力。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A31F46-05CE-484E-8766-390851016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AA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4AA3FF"/>
                </a:solidFill>
                <a:latin typeface="Microsoft YaHei"/>
                <a:ea typeface="Microsoft YaHei"/>
                <a:cs typeface="Microsoft YaHei"/>
              </a:rPr>
              <a:t>test 数据集 F1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ADBAC7-0300-431D-8FB8-9563B7D4A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0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完整规则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0D8364-38D7-4B53-8E7B-F3DB9201B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305050"/>
            <a:ext cx="3238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927"/>
          </a:solidFill>
          <a:ln xmlns:a="http://schemas.openxmlformats.org/drawingml/2006/main" w="9525">
            <a:solidFill>
              <a:srgbClr val="11192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4579A0-28B3-48CF-AE10-23F844606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305050"/>
            <a:ext cx="3238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E2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C702AB-179F-4E02-8E6C-C2DA583F2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276475"/>
            <a:ext cx="819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0E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0E28A"/>
                </a:solidFill>
                <a:latin typeface="Microsoft YaHei"/>
                <a:ea typeface="Microsoft YaHei"/>
                <a:cs typeface="Microsoft YaHei"/>
              </a:rPr>
              <a:t>1.0000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2ECE8D-16CB-4863-B756-FBA3B592B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05100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去掉距离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96E4C4-45AF-4F76-ADBD-2A4E3D4B6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724150"/>
            <a:ext cx="3238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927"/>
          </a:solidFill>
          <a:ln xmlns:a="http://schemas.openxmlformats.org/drawingml/2006/main" w="9525">
            <a:solidFill>
              <a:srgbClr val="11192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319B23-8A17-47BE-BABB-9C0019BE0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724150"/>
            <a:ext cx="3022492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A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3065B7-62AB-474F-A6BA-5A0137A27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695575"/>
            <a:ext cx="819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A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4AA3FF"/>
                </a:solidFill>
                <a:latin typeface="Microsoft YaHei"/>
                <a:ea typeface="Microsoft YaHei"/>
                <a:cs typeface="Microsoft YaHei"/>
              </a:rPr>
              <a:t>0.9333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E0FE77-F9FD-4531-8D71-A3232779A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24200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去掉位置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A2C0DA-BC6C-4089-BFD6-78AEC65A3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143250"/>
            <a:ext cx="3238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927"/>
          </a:solidFill>
          <a:ln xmlns:a="http://schemas.openxmlformats.org/drawingml/2006/main" w="9525">
            <a:solidFill>
              <a:srgbClr val="11192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5FEE41-E963-42E3-B055-CE247BF3E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143250"/>
            <a:ext cx="266269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4622AF-CB1B-47B0-AC33-EDDD5D845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114675"/>
            <a:ext cx="819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1B8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1B84B"/>
                </a:solidFill>
                <a:latin typeface="Microsoft YaHei"/>
                <a:ea typeface="Microsoft YaHei"/>
                <a:cs typeface="Microsoft YaHei"/>
              </a:rPr>
              <a:t>0.8222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DC1EAA-DCB8-4E6E-B53F-4742DC1DC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去掉类型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3E9CF3-7576-4757-A1BF-737C00054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562350"/>
            <a:ext cx="3238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927"/>
          </a:solidFill>
          <a:ln xmlns:a="http://schemas.openxmlformats.org/drawingml/2006/main" w="9525">
            <a:solidFill>
              <a:srgbClr val="11192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823A2B-7797-45DE-837B-51DDBE24F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562350"/>
            <a:ext cx="158330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B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02009C-FA66-4CB5-B1EE-5C97A5E88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533775"/>
            <a:ext cx="819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4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4B4B"/>
                </a:solidFill>
                <a:latin typeface="Microsoft YaHei"/>
                <a:ea typeface="Microsoft YaHei"/>
                <a:cs typeface="Microsoft YaHei"/>
              </a:rPr>
              <a:t>0.4889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59AA8D-AB4A-461D-BC12-F16AE54EF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907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AA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4AA3FF"/>
                </a:solidFill>
                <a:latin typeface="Microsoft YaHei"/>
                <a:ea typeface="Microsoft YaHei"/>
                <a:cs typeface="Microsoft YaHei"/>
              </a:rPr>
              <a:t>real_corpus 数据集 F1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4B4BC9-3026-419D-8391-03CF3D588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86000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完整规则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257F9ED-415E-420B-A557-3786F4312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05050"/>
            <a:ext cx="2667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927"/>
          </a:solidFill>
          <a:ln xmlns:a="http://schemas.openxmlformats.org/drawingml/2006/main" w="9525">
            <a:solidFill>
              <a:srgbClr val="11192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140C31E-B11A-4C34-B726-36B353CAB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05050"/>
            <a:ext cx="2550986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E2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2ACFA6-FE09-4868-B227-B6E78EAB2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276475"/>
            <a:ext cx="819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0E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0E28A"/>
                </a:solidFill>
                <a:latin typeface="Microsoft YaHei"/>
                <a:ea typeface="Microsoft YaHei"/>
                <a:cs typeface="Microsoft YaHei"/>
              </a:rPr>
              <a:t>0.9565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66E1EA0-49D2-4C1D-88D7-C1E52C6BB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05100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去掉距离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C05FD65-9BD8-4A42-9BE9-BBCA2CE87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24150"/>
            <a:ext cx="2667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927"/>
          </a:solidFill>
          <a:ln xmlns:a="http://schemas.openxmlformats.org/drawingml/2006/main" w="9525">
            <a:solidFill>
              <a:srgbClr val="11192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A555425-484D-4099-AC9C-B60CFCF72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24150"/>
            <a:ext cx="1855432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B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CD64440-2050-43A3-9C48-210D2F109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95575"/>
            <a:ext cx="819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4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4B4B"/>
                </a:solidFill>
                <a:latin typeface="Microsoft YaHei"/>
                <a:ea typeface="Microsoft YaHei"/>
                <a:cs typeface="Microsoft YaHei"/>
              </a:rPr>
              <a:t>0.6957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45E22E7-11C2-40D5-8CBF-B4AA31507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24200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去掉位置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975E8A6-B2DC-4937-806A-AEB69FD53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43250"/>
            <a:ext cx="2667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927"/>
          </a:solidFill>
          <a:ln xmlns:a="http://schemas.openxmlformats.org/drawingml/2006/main" w="9525">
            <a:solidFill>
              <a:srgbClr val="11192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D2B4142-D435-4D31-8C1D-F25048A68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43250"/>
            <a:ext cx="2493112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A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5F66D36-5314-4E24-BFA4-AD83834C8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114675"/>
            <a:ext cx="819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A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4AA3FF"/>
                </a:solidFill>
                <a:latin typeface="Microsoft YaHei"/>
                <a:ea typeface="Microsoft YaHei"/>
                <a:cs typeface="Microsoft YaHei"/>
              </a:rPr>
              <a:t>0.9348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32B9E80-8C95-44A3-9D0E-B1CF49143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543300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去掉类型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7946649-A658-462A-9C25-4407C95B5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562350"/>
            <a:ext cx="2667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927"/>
          </a:solidFill>
          <a:ln xmlns:a="http://schemas.openxmlformats.org/drawingml/2006/main" w="9525">
            <a:solidFill>
              <a:srgbClr val="11192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FB57D97-3293-4276-BCE9-D011B657E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562350"/>
            <a:ext cx="226108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F42BC04-E46A-4970-BBEE-4A3DD4D54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533775"/>
            <a:ext cx="819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1B8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1B84B"/>
                </a:solidFill>
                <a:latin typeface="Microsoft YaHei"/>
                <a:ea typeface="Microsoft YaHei"/>
                <a:cs typeface="Microsoft YaHei"/>
              </a:rPr>
              <a:t>0.8478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EF092D1-1019-4C03-9931-6BA88A95A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19650"/>
            <a:ext cx="10191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927"/>
          </a:solidFill>
          <a:ln xmlns:a="http://schemas.openxmlformats.org/drawingml/2006/main" w="9525">
            <a:solidFill>
              <a:srgbClr val="2A3446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CC7AEA8-064A-402E-8B39-9F1FECEB3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991100"/>
            <a:ext cx="933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结论：构造测试集上“类型规则”最关键；真实语料风格数据中“距离规则”下降最大，说明真实文本更依赖局部上下文。</a:t>
            </a:r>
          </a:p>
        </p:txBody>
      </p:sp>
    </p:spTree>
    <p:extLst>
      <p:ext uri="{BB962C8B-B14F-4D97-AF65-F5344CB8AC3E}">
        <p14:creationId xmlns:p14="http://schemas.microsoft.com/office/powerpoint/2010/main" val="81874728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3522016-7F60-4C3E-B271-C17B560BA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1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D162EF-FF26-4400-9183-15D10E3B3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627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B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51C8AB-65F5-4800-A96F-80CF2E46C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AB4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AAB4C3"/>
                </a:solidFill>
                <a:latin typeface="Microsoft YaHei"/>
                <a:ea typeface="Microsoft YaHei"/>
                <a:cs typeface="Microsoft YaHei"/>
              </a:rPr>
              <a:t>中文指代消解与句子改写系统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8B309D-6EC4-4C27-B25A-F8B994A26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AB4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AAB4C3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C545CE-3458-452D-B0DD-DA2055412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9100"/>
            <a:ext cx="76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B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92BBAF-075C-4755-87C2-8408F97A1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47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4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4B4B"/>
                </a:solidFill>
                <a:latin typeface="Microsoft YaHei"/>
                <a:ea typeface="Microsoft YaHei"/>
                <a:cs typeface="Microsoft YaHei"/>
              </a:rPr>
              <a:t>DEMO &amp; DEPLOY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48118C-6D3D-4065-9376-1EB784A0C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19150"/>
            <a:ext cx="9334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项目交付覆盖演示、评估与部署。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0654F0-1581-461D-8C95-1873CE698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22860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927"/>
          </a:solidFill>
          <a:ln xmlns:a="http://schemas.openxmlformats.org/drawingml/2006/main" w="9525">
            <a:solidFill>
              <a:srgbClr val="50E28A">
                <a:alpha val="40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EBECB5-EFAE-47C5-875F-D398BCB34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571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E2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9A8E5A-555D-4FC7-BAD9-308CD61FA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3360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单文本分析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D47A16-0CF6-47D5-BFA5-188640EC8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57450"/>
            <a:ext cx="2000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AB4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AB4C3"/>
                </a:solidFill>
                <a:latin typeface="Microsoft YaHei"/>
                <a:ea typeface="Microsoft YaHei"/>
                <a:cs typeface="Microsoft YaHei"/>
              </a:rPr>
              <a:t>高亮原文</a:t>
            </a:r>
          </a:p>
          <a:p xmlns:a="http://schemas.openxmlformats.org/drawingml/2006/main">
            <a:pPr algn="l">
              <a:defRPr sz="1050" b="0">
                <a:solidFill>
                  <a:srgbClr val="AAB4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AB4C3"/>
                </a:solidFill>
                <a:latin typeface="Microsoft YaHei"/>
                <a:ea typeface="Microsoft YaHei"/>
                <a:cs typeface="Microsoft YaHei"/>
              </a:rPr>
              <a:t>显示候选实体和指代关系</a:t>
            </a:r>
          </a:p>
          <a:p xmlns:a="http://schemas.openxmlformats.org/drawingml/2006/main">
            <a:pPr algn="l">
              <a:defRPr sz="1050" b="0">
                <a:solidFill>
                  <a:srgbClr val="AAB4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AB4C3"/>
                </a:solidFill>
                <a:latin typeface="Microsoft YaHei"/>
                <a:ea typeface="Microsoft YaHei"/>
                <a:cs typeface="Microsoft YaHei"/>
              </a:rPr>
              <a:t>输出改写结果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0D80CB-05C7-4E0E-B16F-90A2F020D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00250"/>
            <a:ext cx="22860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927"/>
          </a:solidFill>
          <a:ln xmlns:a="http://schemas.openxmlformats.org/drawingml/2006/main" w="9525">
            <a:solidFill>
              <a:srgbClr val="4AA3FF">
                <a:alpha val="40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2BE02D-44B0-46F7-A41E-C7C68676F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00250"/>
            <a:ext cx="571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A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03EADC-D71A-4E7D-9CDE-36141C25B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13360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数据集评估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9B01DC-1AE6-41D8-A4B3-BB97BAAA1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457450"/>
            <a:ext cx="2000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AB4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AB4C3"/>
                </a:solidFill>
                <a:latin typeface="Microsoft YaHei"/>
                <a:ea typeface="Microsoft YaHei"/>
                <a:cs typeface="Microsoft YaHei"/>
              </a:rPr>
              <a:t>Accuracy / Precision / Recall / F1</a:t>
            </a:r>
          </a:p>
          <a:p xmlns:a="http://schemas.openxmlformats.org/drawingml/2006/main">
            <a:pPr algn="l">
              <a:defRPr sz="1050" b="0">
                <a:solidFill>
                  <a:srgbClr val="AAB4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AB4C3"/>
                </a:solidFill>
                <a:latin typeface="Microsoft YaHei"/>
                <a:ea typeface="Microsoft YaHei"/>
                <a:cs typeface="Microsoft YaHei"/>
              </a:rPr>
              <a:t>错误样本表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467DDC-C1F0-4B3F-8136-0CBBC1BFC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00250"/>
            <a:ext cx="22860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927"/>
          </a:solidFill>
          <a:ln xmlns:a="http://schemas.openxmlformats.org/drawingml/2006/main" w="9525">
            <a:solidFill>
              <a:srgbClr val="F1B84B">
                <a:alpha val="4000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C9F245-ADA7-4DC4-BABB-4826B8BF8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00250"/>
            <a:ext cx="571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BE8128-9270-4C3F-AB8B-B1CCF10B9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13360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消融实验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8FDEF4-62E0-413F-A346-FAEA429A4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57450"/>
            <a:ext cx="2000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AB4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AB4C3"/>
                </a:solidFill>
                <a:latin typeface="Microsoft YaHei"/>
                <a:ea typeface="Microsoft YaHei"/>
                <a:cs typeface="Microsoft YaHei"/>
              </a:rPr>
              <a:t>一键比较不同规则配置</a:t>
            </a:r>
          </a:p>
          <a:p xmlns:a="http://schemas.openxmlformats.org/drawingml/2006/main">
            <a:pPr algn="l">
              <a:defRPr sz="1050" b="0">
                <a:solidFill>
                  <a:srgbClr val="AAB4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AB4C3"/>
                </a:solidFill>
                <a:latin typeface="Microsoft YaHei"/>
                <a:ea typeface="Microsoft YaHei"/>
                <a:cs typeface="Microsoft YaHei"/>
              </a:rPr>
              <a:t>结果可写入报告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9D42B0-F13E-40E2-B39B-69F210AAD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000250"/>
            <a:ext cx="22860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927"/>
          </a:solidFill>
          <a:ln xmlns:a="http://schemas.openxmlformats.org/drawingml/2006/main" w="9525">
            <a:solidFill>
              <a:srgbClr val="FF4B4B">
                <a:alpha val="4000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1B6FCB-FC14-4D00-8CFB-0A6059E8F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000250"/>
            <a:ext cx="571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B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751F9C-4B7D-4972-B7BD-C91BF4FCB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3360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数据标注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6F6E8C-E72F-4BBF-B557-7DE7F0A2A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57450"/>
            <a:ext cx="2000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AB4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AB4C3"/>
                </a:solidFill>
                <a:latin typeface="Microsoft YaHei"/>
                <a:ea typeface="Microsoft YaHei"/>
                <a:cs typeface="Microsoft YaHei"/>
              </a:rPr>
              <a:t>手动绑定 pronoun 与 antecedent</a:t>
            </a:r>
          </a:p>
          <a:p xmlns:a="http://schemas.openxmlformats.org/drawingml/2006/main">
            <a:pPr algn="l">
              <a:defRPr sz="1050" b="0">
                <a:solidFill>
                  <a:srgbClr val="AAB4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AB4C3"/>
                </a:solidFill>
                <a:latin typeface="Microsoft YaHei"/>
                <a:ea typeface="Microsoft YaHei"/>
                <a:cs typeface="Microsoft YaHei"/>
              </a:rPr>
              <a:t>导出 JSON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595454-9CC1-4CCC-AB42-707DA65E8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24350"/>
            <a:ext cx="2571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927"/>
          </a:solidFill>
          <a:ln xmlns:a="http://schemas.openxmlformats.org/drawingml/2006/main" w="9525">
            <a:solidFill>
              <a:srgbClr val="2A344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EEF1E2-E26C-4FF8-8B83-1CE82C742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148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Streamlit app.py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42377B-F400-4393-AFE6-E86A97064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619625"/>
            <a:ext cx="800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4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5CB14CB-F762-4C9C-89D2-0DD364E60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533900"/>
            <a:ext cx="171450" cy="1905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A34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8C3A4A8-A0D2-4A99-8A87-8153449E4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324350"/>
            <a:ext cx="2571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927"/>
          </a:solidFill>
          <a:ln xmlns:a="http://schemas.openxmlformats.org/drawingml/2006/main" w="9525">
            <a:solidFill>
              <a:srgbClr val="2A344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65EB231-E942-487F-A9A2-73C8565CE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5148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云服务器 + Nginx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8412010-B5F0-4A61-AD0F-7D62A3F87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619625"/>
            <a:ext cx="800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4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E2B80EF-265D-4587-A40F-7C31F9811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33900"/>
            <a:ext cx="171450" cy="1905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A34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61B3D34-7664-44E0-BE33-6C9D8570B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324350"/>
            <a:ext cx="2190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927"/>
          </a:solidFill>
          <a:ln xmlns:a="http://schemas.openxmlformats.org/drawingml/2006/main" w="9525">
            <a:solidFill>
              <a:srgbClr val="2A344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05CDDF5-23C3-4972-AEEC-4977CE592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5148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50E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50E28A"/>
                </a:solidFill>
                <a:latin typeface="Microsoft YaHei"/>
                <a:ea typeface="Microsoft YaHei"/>
                <a:cs typeface="Microsoft YaHei"/>
              </a:rPr>
              <a:t>域名 / HTTPS 展示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4058F63-16E7-4066-9DA0-F473147ED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7210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B4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AB4C3"/>
                </a:solidFill>
                <a:latin typeface="Microsoft YaHei"/>
                <a:ea typeface="Microsoft YaHei"/>
                <a:cs typeface="Microsoft YaHei"/>
              </a:rPr>
              <a:t>部署流程已整理在 DEPLOYMENT.md。</a:t>
            </a:r>
          </a:p>
        </p:txBody>
      </p:sp>
    </p:spTree>
    <p:extLst>
      <p:ext uri="{BB962C8B-B14F-4D97-AF65-F5344CB8AC3E}">
        <p14:creationId xmlns:p14="http://schemas.microsoft.com/office/powerpoint/2010/main" val="3974081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E32D233-9BD2-4B41-B9DA-EE331F6A0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1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1D29A2-F693-4C31-A74D-B052807BA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627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B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084840-09D5-44A7-BF8F-B7B12F1B5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AB4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AAB4C3"/>
                </a:solidFill>
                <a:latin typeface="Microsoft YaHei"/>
                <a:ea typeface="Microsoft YaHei"/>
                <a:cs typeface="Microsoft YaHei"/>
              </a:rPr>
              <a:t>中文指代消解与句子改写系统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D593C7-B1E4-4075-B55A-B4713739E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AB4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AAB4C3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B2924F-CD21-41A4-8E84-01A3CA6A5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9100"/>
            <a:ext cx="76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B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1531E5-27DA-4610-9F75-F332306A3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47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4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4B4B"/>
                </a:solidFill>
                <a:latin typeface="Microsoft YaHei"/>
                <a:ea typeface="Microsoft YaHei"/>
                <a:cs typeface="Microsoft YaHei"/>
              </a:rPr>
              <a:t>NEXT STEP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2DF517-48F9-4F18-96AE-EE85849DA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19150"/>
            <a:ext cx="9334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下一步接入 BERT 语义匹配，但保留规则系统的可解释性。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867BF8-2DD2-426E-803D-08C48B140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43150"/>
            <a:ext cx="2190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927"/>
          </a:solidFill>
          <a:ln xmlns:a="http://schemas.openxmlformats.org/drawingml/2006/main" w="9525">
            <a:solidFill>
              <a:srgbClr val="2A344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307ACD-7806-40C2-B812-47CA9DE51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3365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0E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50E28A"/>
                </a:solidFill>
                <a:latin typeface="Microsoft YaHei"/>
                <a:ea typeface="Microsoft YaHei"/>
                <a:cs typeface="Microsoft YaHei"/>
              </a:rPr>
              <a:t>规则分数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B68A62-63CE-40FB-BF65-12E790E75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AAB4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AB4C3"/>
                </a:solidFill>
                <a:latin typeface="Microsoft YaHei"/>
                <a:ea typeface="Microsoft YaHei"/>
                <a:cs typeface="Microsoft YaHei"/>
              </a:rPr>
              <a:t>距离 / 类型 / 角色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5F1E54-63A4-416E-B466-A111815EE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714625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4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89ADA1-B5E4-4ADB-ACFD-7CB40B706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628900"/>
            <a:ext cx="171450" cy="1905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A34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72E0AA-D4AA-4F25-8EA0-ED2A44945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43150"/>
            <a:ext cx="2190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927"/>
          </a:solidFill>
          <a:ln xmlns:a="http://schemas.openxmlformats.org/drawingml/2006/main" w="9525">
            <a:solidFill>
              <a:srgbClr val="2A344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10F1E1-1FC0-4D92-9B0D-226D5EC58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3365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AA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4AA3FF"/>
                </a:solidFill>
                <a:latin typeface="Microsoft YaHei"/>
                <a:ea typeface="Microsoft YaHei"/>
                <a:cs typeface="Microsoft YaHei"/>
              </a:rPr>
              <a:t>BERT 语义分数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1557DF-162C-4C41-9073-1C6A66784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81940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AAB4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AB4C3"/>
                </a:solidFill>
                <a:latin typeface="Microsoft YaHei"/>
                <a:ea typeface="Microsoft YaHei"/>
                <a:cs typeface="Microsoft YaHei"/>
              </a:rPr>
              <a:t>上下文向量相似度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A2D8A5-5891-479C-8637-5660BD3A6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714625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4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B9AC9D-7D23-4FE7-9BD5-CD871BEC8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628900"/>
            <a:ext cx="171450" cy="1905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A34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25952C-10F6-47A0-8BCC-2276F072B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43150"/>
            <a:ext cx="285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F25"/>
          </a:solidFill>
          <a:ln xmlns:a="http://schemas.openxmlformats.org/drawingml/2006/main" w="9525">
            <a:solidFill>
              <a:srgbClr val="266C4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B03ED4-C514-4B52-A67E-F0120EF85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33650"/>
            <a:ext cx="2286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0E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50E28A"/>
                </a:solidFill>
                <a:latin typeface="Microsoft YaHei"/>
                <a:ea typeface="Microsoft YaHei"/>
                <a:cs typeface="Microsoft YaHei"/>
              </a:rPr>
              <a:t>融合决策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04BA31-21B3-4594-A684-435760CAB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19400"/>
            <a:ext cx="228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AAB4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AB4C3"/>
                </a:solidFill>
                <a:latin typeface="Microsoft YaHei"/>
                <a:ea typeface="Microsoft YaHei"/>
                <a:cs typeface="Microsoft YaHei"/>
              </a:rPr>
              <a:t>0.7 * rule + 0.3 * semantic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7F715A-6CF9-4EAF-B993-461315BF1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95750"/>
            <a:ext cx="8572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927"/>
          </a:solidFill>
          <a:ln xmlns:a="http://schemas.openxmlformats.org/drawingml/2006/main" w="9525">
            <a:solidFill>
              <a:srgbClr val="2A344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64EF1C-DE2D-4A9D-BE24-F49949BC3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3243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1B8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1B84B"/>
                </a:solidFill>
                <a:latin typeface="Microsoft YaHei"/>
                <a:ea typeface="Microsoft YaHei"/>
                <a:cs typeface="Microsoft YaHei"/>
              </a:rPr>
              <a:t>课程展示价值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F7D8EE-6352-4F81-B47C-D647D1657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324350"/>
            <a:ext cx="581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基础功能完整，实验分析可复现；进阶方向明确，能够自然过渡到问答、摘要、信息抽取等下游任务。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093FA2-B360-45FF-B084-B307FB436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29250"/>
            <a:ext cx="819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项目定位：一个可解释 baseline + 可扩展语义模块的中文指代消解原型。</a:t>
            </a:r>
          </a:p>
        </p:txBody>
      </p:sp>
    </p:spTree>
    <p:extLst>
      <p:ext uri="{BB962C8B-B14F-4D97-AF65-F5344CB8AC3E}">
        <p14:creationId xmlns:p14="http://schemas.microsoft.com/office/powerpoint/2010/main" val="11525616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2026-06-18T03:00:35.5030000Z</dcterms:created>
  <dcterms:modified xsi:type="dcterms:W3CDTF">2026-06-18T03:00:35.5030000Z</dcterms:modified>
</coreProperties>
</file>