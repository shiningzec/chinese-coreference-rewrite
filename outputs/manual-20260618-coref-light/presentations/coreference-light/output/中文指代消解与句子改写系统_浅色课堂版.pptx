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9fc9df530744dc" /><Relationship Type="http://schemas.openxmlformats.org/officeDocument/2006/relationships/extended-properties" Target="/docProps/app.xml" Id="Ra43043224cf64e0f" /><Relationship Type="http://schemas.openxmlformats.org/officeDocument/2006/relationships/officeDocument" Target="/ppt/presentation.xml" Id="Re1d3bd4019fc49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1f4c49943d49c2"/>
  </p:sldMasterIdLst>
  <p:notesMasterIdLst>
    <p:notesMasterId xmlns:r="http://schemas.openxmlformats.org/officeDocument/2006/relationships" r:id="Rb908c0550fcb4100"/>
  </p:notesMasterIdLst>
  <p:sldIdLst>
    <p:sldId xmlns:r="http://schemas.openxmlformats.org/officeDocument/2006/relationships" id="256" r:id="R8596466de1bb42ea"/>
    <p:sldId xmlns:r="http://schemas.openxmlformats.org/officeDocument/2006/relationships" id="257" r:id="R483a34c66a694ec8"/>
    <p:sldId xmlns:r="http://schemas.openxmlformats.org/officeDocument/2006/relationships" id="258" r:id="Raf71a8ff77aa4c5d"/>
    <p:sldId xmlns:r="http://schemas.openxmlformats.org/officeDocument/2006/relationships" id="259" r:id="R634ed7a48f3749d8"/>
    <p:sldId xmlns:r="http://schemas.openxmlformats.org/officeDocument/2006/relationships" id="260" r:id="R3c364d21c0cb42ff"/>
    <p:sldId xmlns:r="http://schemas.openxmlformats.org/officeDocument/2006/relationships" id="261" r:id="R896de35a5e884998"/>
    <p:sldId xmlns:r="http://schemas.openxmlformats.org/officeDocument/2006/relationships" id="262" r:id="Rb66d3b37ac08401e"/>
    <p:sldId xmlns:r="http://schemas.openxmlformats.org/officeDocument/2006/relationships" id="263" r:id="Rf4401d5b97fe4436"/>
    <p:sldId xmlns:r="http://schemas.openxmlformats.org/officeDocument/2006/relationships" id="264" r:id="R062a9c00dbe745c9"/>
    <p:sldId xmlns:r="http://schemas.openxmlformats.org/officeDocument/2006/relationships" id="265" r:id="Rc9f587a5259f450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65198925c740e3" /><Relationship Type="http://schemas.openxmlformats.org/officeDocument/2006/relationships/slideMaster" Target="/ppt/slideMasters/slideMaster1.xml" Id="Rd11f4c49943d49c2" /><Relationship Type="http://schemas.openxmlformats.org/officeDocument/2006/relationships/notesMaster" Target="/ppt/notesMasters/notesMaster1.xml" Id="Rb908c0550fcb4100" /><Relationship Type="http://schemas.openxmlformats.org/officeDocument/2006/relationships/presProps" Target="/ppt/presProps.xml" Id="R02889f4b68294798" /><Relationship Type="http://schemas.openxmlformats.org/officeDocument/2006/relationships/tableStyles" Target="/ppt/tableStyles.xml" Id="R3b4f827000744a6d" /><Relationship Type="http://schemas.openxmlformats.org/officeDocument/2006/relationships/slide" Target="/ppt/slides/slide1.xml" Id="R8596466de1bb42ea" /><Relationship Type="http://schemas.openxmlformats.org/officeDocument/2006/relationships/slide" Target="/ppt/slides/slide2.xml" Id="R483a34c66a694ec8" /><Relationship Type="http://schemas.openxmlformats.org/officeDocument/2006/relationships/slide" Target="/ppt/slides/slide3.xml" Id="Raf71a8ff77aa4c5d" /><Relationship Type="http://schemas.openxmlformats.org/officeDocument/2006/relationships/slide" Target="/ppt/slides/slide4.xml" Id="R634ed7a48f3749d8" /><Relationship Type="http://schemas.openxmlformats.org/officeDocument/2006/relationships/slide" Target="/ppt/slides/slide5.xml" Id="R3c364d21c0cb42ff" /><Relationship Type="http://schemas.openxmlformats.org/officeDocument/2006/relationships/slide" Target="/ppt/slides/slide6.xml" Id="R896de35a5e884998" /><Relationship Type="http://schemas.openxmlformats.org/officeDocument/2006/relationships/slide" Target="/ppt/slides/slide7.xml" Id="Rb66d3b37ac08401e" /><Relationship Type="http://schemas.openxmlformats.org/officeDocument/2006/relationships/slide" Target="/ppt/slides/slide8.xml" Id="Rf4401d5b97fe4436" /><Relationship Type="http://schemas.openxmlformats.org/officeDocument/2006/relationships/slide" Target="/ppt/slides/slide9.xml" Id="R062a9c00dbe745c9" /><Relationship Type="http://schemas.openxmlformats.org/officeDocument/2006/relationships/slide" Target="/ppt/slides/slide10.xml" Id="Rc9f587a5259f45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d2822928e54c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ed89330a814480" /><Relationship Type="http://schemas.openxmlformats.org/officeDocument/2006/relationships/notesMaster" Target="/ppt/notesMasters/notesMaster1.xml" Id="Rbd14bb7ded0145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3a112f52a747a2" /><Relationship Type="http://schemas.openxmlformats.org/officeDocument/2006/relationships/notesMaster" Target="/ppt/notesMasters/notesMaster1.xml" Id="Radee102cc4c548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87a90aedea44e8" /><Relationship Type="http://schemas.openxmlformats.org/officeDocument/2006/relationships/notesMaster" Target="/ppt/notesMasters/notesMaster1.xml" Id="R0610ae0499d148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94f23fbad04b6e" /><Relationship Type="http://schemas.openxmlformats.org/officeDocument/2006/relationships/notesMaster" Target="/ppt/notesMasters/notesMaster1.xml" Id="Ree8d76d3abac45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a8fb76184642be" /><Relationship Type="http://schemas.openxmlformats.org/officeDocument/2006/relationships/notesMaster" Target="/ppt/notesMasters/notesMaster1.xml" Id="Rcde14077d0c445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c036bbbf5c48f4" /><Relationship Type="http://schemas.openxmlformats.org/officeDocument/2006/relationships/notesMaster" Target="/ppt/notesMasters/notesMaster1.xml" Id="R4433a07fa46747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e93ce54ac543d8" /><Relationship Type="http://schemas.openxmlformats.org/officeDocument/2006/relationships/notesMaster" Target="/ppt/notesMasters/notesMaster1.xml" Id="Rc504938c07a94a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6e47e282a948e0" /><Relationship Type="http://schemas.openxmlformats.org/officeDocument/2006/relationships/notesMaster" Target="/ppt/notesMasters/notesMaster1.xml" Id="R16dd62f367b84b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fe3aecdf254a9c" /><Relationship Type="http://schemas.openxmlformats.org/officeDocument/2006/relationships/notesMaster" Target="/ppt/notesMasters/notesMaster1.xml" Id="R3047b11ec7b640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51eef9e76a45a6" /><Relationship Type="http://schemas.openxmlformats.org/officeDocument/2006/relationships/notesMaster" Target="/ppt/notesMasters/notesMaster1.xml" Id="R83269963d4c245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0dd9dfccd34e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c136a334ae447a" /><Relationship Type="http://schemas.openxmlformats.org/officeDocument/2006/relationships/slideLayout" Target="/ppt/slideLayouts/slideLayout1.xml" Id="R3344ca5a8bdb49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44ca5a8bdb49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e6192bd09443c" /><Relationship Type="http://schemas.openxmlformats.org/officeDocument/2006/relationships/notesSlide" Target="/ppt/notesSlides/notesSlide1.xml" Id="R332a9db3e4d54f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59dca5d5e45a0" /><Relationship Type="http://schemas.openxmlformats.org/officeDocument/2006/relationships/notesSlide" Target="/ppt/notesSlides/notesSlide2.xml" Id="R2de101d7cf3e4f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60fef6b884e70" /><Relationship Type="http://schemas.openxmlformats.org/officeDocument/2006/relationships/notesSlide" Target="/ppt/notesSlides/notesSlide3.xml" Id="R38a610f2b00748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b54efc8824f7c" /><Relationship Type="http://schemas.openxmlformats.org/officeDocument/2006/relationships/notesSlide" Target="/ppt/notesSlides/notesSlide4.xml" Id="R60afa262437c4e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201be4b864b52" /><Relationship Type="http://schemas.openxmlformats.org/officeDocument/2006/relationships/notesSlide" Target="/ppt/notesSlides/notesSlide5.xml" Id="R17915d63a9404b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63970228743a3" /><Relationship Type="http://schemas.openxmlformats.org/officeDocument/2006/relationships/notesSlide" Target="/ppt/notesSlides/notesSlide6.xml" Id="R90f085268cae41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73655f42745f6" /><Relationship Type="http://schemas.openxmlformats.org/officeDocument/2006/relationships/notesSlide" Target="/ppt/notesSlides/notesSlide7.xml" Id="Rdddd4d4cb69f45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b717ad9ad43ef" /><Relationship Type="http://schemas.openxmlformats.org/officeDocument/2006/relationships/notesSlide" Target="/ppt/notesSlides/notesSlide8.xml" Id="R4619c9928de346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a8df2537f496a" /><Relationship Type="http://schemas.openxmlformats.org/officeDocument/2006/relationships/notesSlide" Target="/ppt/notesSlides/notesSlide9.xml" Id="Rfa7de3f8cfed4b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ae3b5b7ba44c9" /><Relationship Type="http://schemas.openxmlformats.org/officeDocument/2006/relationships/notesSlide" Target="/ppt/notesSlides/notesSlide10.xml" Id="R91949f635e0242e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19218E-A530-46BF-9711-1868532E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056A8-5858-4A0E-95EE-D58E436B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D34C6-8D7C-4588-AA3C-283E1F70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A4D66-4CDB-4654-A08B-55514937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30395-136F-45D8-9D45-964E3605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18C53-120E-4A59-B4D3-D69B6DE9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B1B29-7C87-4F1E-A9FD-3D7D5AC5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FINAL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A657D-196D-46BF-98A3-0F74C64B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DBCBC-F048-486D-9F5A-22BC8AA3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输入中文文本，识别代词与候选先行词，预测指代关系，并生成更清晰的改写结果。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5BA23-3E58-4FC7-A5BD-055C7301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2E4CA3-F96C-4322-8E3F-08756B09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rPr>
              <a:t>120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DF91D-366C-41B0-A669-0413308A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构造样本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9B5F4-B7BA-4BF3-95AE-BC836477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5745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E42B19-15BA-4353-A62C-3F98CAEC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289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5D6EB-7CBF-4AE5-BEE6-6379DED9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861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最终测试样本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E487EA-27B1-455E-BAD8-39FE944C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5745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63BDEB-3573-4E6C-8DF4-AAD1EC5E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289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687E89-E901-4BC8-902B-7A74B3D7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861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真实语料风格样本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195C50-8572-4606-99A3-3FB52451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035C7F-841B-4E07-9EED-EA6FD922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289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96830B-E62D-4222-900E-A6C3EF34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861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Streamlit 功能页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29CE60-E7C8-4CB5-AAA1-44E0EDE9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00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9D8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1C6B45-17AF-4A0D-8CD1-46EA0ADA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895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本版重点：词表增强、人名识别、歧义检测、角色规则与消融实验。</a:t>
            </a:r>
          </a:p>
        </p:txBody>
      </p:sp>
    </p:spTree>
    <p:extLst>
      <p:ext uri="{BB962C8B-B14F-4D97-AF65-F5344CB8AC3E}">
        <p14:creationId xmlns:p14="http://schemas.microsoft.com/office/powerpoint/2010/main" val="3215905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F6DB0A-0946-4E2D-875B-DFB2275B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FED98-4FF2-4366-BEDA-E22DF28C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E5A3E-716B-43EC-A177-E5296215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13065-29A8-4F3B-AAC2-DE900CD2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A993F-F80C-495D-994F-0BAC186C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226E7-11C9-4EF5-A71B-A5E7FB3C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3C498-99B6-46DC-8452-E942ED5C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D4A36-CAC7-4B11-B899-95D7584C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中文指代消解的难点在于：有些能判定，有些本身就歧义。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B5CD2-B4C2-4812-93A1-AC6293E0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953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7"/>
          </a:solidFill>
          <a:ln xmlns:a="http://schemas.openxmlformats.org/drawingml/2006/main" w="9525">
            <a:solidFill>
              <a:srgbClr val="B7E4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265AD-079C-420E-8293-D04BF56F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rPr>
              <a:t>可解析样例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B648B-E84F-4CFA-80E1-08B5B339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235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82235"/>
                </a:solidFill>
                <a:latin typeface="Aptos Mono"/>
                <a:ea typeface="Aptos Mono"/>
                <a:cs typeface="Aptos Mono"/>
              </a:rPr>
              <a:t>马斯克整理了书，他准备再次确认它。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88D5A-A9BF-4BE3-A267-669B919A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rPr>
              <a:t>他 -&gt; 马斯克；它 -&gt; 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148B4-4E7B-4B9E-91DE-5CF34B65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24050"/>
            <a:ext cx="4953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F3B8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CE1E12-1D97-430E-BAF0-FAEF5E32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526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真实歧义样例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5E5898-2A8B-470D-8B91-386530A3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71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235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82235"/>
                </a:solidFill>
                <a:latin typeface="Aptos Mono"/>
                <a:ea typeface="Aptos Mono"/>
                <a:cs typeface="Aptos Mono"/>
              </a:rPr>
              <a:t>马云会见了马斯克，他对他说了句玩笑话。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C5E8A3-5119-4215-92D0-F5D82AA8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051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两个“他”均可能指不同人物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DA033-69FC-47C4-A0A2-01F2B3F8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09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F75967-679A-44A8-BC4F-CEDE08D4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处理策略：能确定时自动改写；分数接近或句式天然歧义时，保留原文并提示人工确认。</a:t>
            </a:r>
          </a:p>
        </p:txBody>
      </p:sp>
    </p:spTree>
    <p:extLst>
      <p:ext uri="{BB962C8B-B14F-4D97-AF65-F5344CB8AC3E}">
        <p14:creationId xmlns:p14="http://schemas.microsoft.com/office/powerpoint/2010/main" val="19071149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9AB727-1D43-44CF-8CDC-4B055531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9C185-D779-4EB6-B5CD-EF4620C9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B103C-2CD3-4ABB-95D2-486365CA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A428D-B28E-4499-86FE-C8BC5070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78C30-6BD5-495F-8DDE-AF0AEA82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FA6F2-C48A-4B0E-9F19-D30BC417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D56C4-7C2D-42CE-A975-E738F01F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3A9CE-13F2-4A2A-84CD-EBC52DAB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系统拆成四段流水线，便于调试、演示和扩展。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22007-F6AF-4D4E-BBFA-1F6433D5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095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D1EAC-D89F-4466-8205-49D9505E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2C84F-5CAE-4CF3-8693-2AE3CA4F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输入文本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F9A0BE-26C9-40A4-BC83-F9C076C1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790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Streamlit 输入</a:t>
            </a:r>
          </a:p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示例或自定义文本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DF30E-83E6-4E6F-9B77-C097DB8C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813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4A1AAC-84AC-49B8-B97F-46CCE0E7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95600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B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3D08D6-5A89-447A-97D6-CA0B7A3D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81250"/>
            <a:ext cx="2095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7DEC7F-D693-4E0D-B2B9-4EBA4773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812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F74143-3E92-4B97-AD68-4B31FA50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1460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Mention 抽取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3E6AC-12C7-4D53-AA8F-924F2CA5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57500"/>
            <a:ext cx="1790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代词识别</a:t>
            </a:r>
          </a:p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实体候选</a:t>
            </a:r>
          </a:p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词表增强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3911FF-919B-4B78-8A6D-1086A808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813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C51438-1039-42FF-861E-6180770E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95600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B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5A54F5-3B52-49CC-8583-4BBBDDA4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81250"/>
            <a:ext cx="2247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BBF7B5-744B-40F7-9D5C-5D483946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812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08CFFC-F597-4890-9D63-4A24856D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1460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Resolver 打分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ED257D-DFA1-45A3-A3FE-40079321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57500"/>
            <a:ext cx="1943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距离 / 位置 / 类型 / 性别</a:t>
            </a:r>
          </a:p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角色规则 / 歧义检测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14005A-6910-47F2-89ED-1E5BB908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81325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5220C2-34D5-4891-95B4-AC658EB1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95600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B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62EB5F-64AB-4F01-A32C-E935CC57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381250"/>
            <a:ext cx="1485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7D54FB-08CC-4559-879D-B560C728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3812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1A488A-F7F3-4D56-8D48-0A736775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514600"/>
            <a:ext cx="1181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rPr>
              <a:t>改写与评估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46BD04-EB5B-4EC6-B0B9-75C8514F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57500"/>
            <a:ext cx="1181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rewrite_text</a:t>
            </a:r>
          </a:p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F1 / 错误分析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C21A86-BFC0-4F9C-9A8F-EE7C0961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核心文件：src/mention_extractor.py  ·  src/resolver.py  ·  src/rewriter.py  ·  src/evaluator.py  ·  app.py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1F9900-991B-4641-9C1E-0EDE125C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HanLP / LTP 作为可选增强接口；未安装时回退到规则 baseline。</a:t>
            </a:r>
          </a:p>
        </p:txBody>
      </p:sp>
    </p:spTree>
    <p:extLst>
      <p:ext uri="{BB962C8B-B14F-4D97-AF65-F5344CB8AC3E}">
        <p14:creationId xmlns:p14="http://schemas.microsoft.com/office/powerpoint/2010/main" val="20417782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32E6B9-D361-4777-8EBC-0C64905E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87DE8-0BB9-4412-ACC0-E1B3398A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E3D30-F22D-4A79-9E02-47970E20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A54AB-E541-43DB-949F-747C899F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57D71-420E-48E6-83C2-D4961EC2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E5339-262B-4980-A265-ECE66014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40B53-AF4B-4504-8293-2B367E8F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E47E7-713D-4CE6-BBED-DE95805D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数据集按用途拆分，避免演示、调参与测试混在一起。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B6D5B-4404-4EB1-9423-2D1EE5E8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60960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4ACE3-CF79-4B07-9635-9B38870D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数据文件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30199-2F84-40B3-AB32-810271F5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条数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75649-2C2A-40DF-9CF2-2A7262C7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用途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AC5166-3730-4BC2-A441-8A889EEE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3EBBD5-24D0-4F47-9421-81A9821B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demo.json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71082B-BC21-4DA3-9D6C-F7686D14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589BE-AE30-4E9E-AD27-EF981985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页面演示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792852-F352-4462-B6FA-C303700D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956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7F76E6-B36E-4C1C-89ED-CBAED90E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dev.json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5530AC-A4C6-427C-B0D1-ADB85CA0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99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BC135E-3048-4195-8CFF-B1BE2549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99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规则调试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2D3EDB-6C3C-4F79-B6B9-8A5CC430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7611D1-A9D1-418F-8988-9CE9BC7A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test.json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9AFEC3-A950-43EF-8333-85F104BF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480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CF10D6-7A7E-4D3A-AF1B-D58EBFF5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480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最终评估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FA7D13-8512-449F-BFE6-72FF530B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FD5C55-9A70-4AC2-BD00-EEE846A7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real_corpus.json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AE2205-9779-4A7F-9F48-A0ABC8E2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862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8FDEC9-EBB7-4914-AB80-63DBB301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862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真实语料压力测试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2794D9-1341-441E-8D8A-2E7C1D6B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CE6A9A-5761-401A-B449-00235C0E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samples.json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BDFA5F-5D0C-49DC-96DD-19843EB3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243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rPr>
              <a:t>120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89BD20-734E-485F-8C09-6A0FAF37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24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完整样本备份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35E4FA-936C-4A59-944A-4E4E6840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33337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7"/>
          </a:solidFill>
          <a:ln xmlns:a="http://schemas.openxmlformats.org/drawingml/2006/main" w="9525">
            <a:solidFill>
              <a:srgbClr val="B7E4C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94E366-797E-4E94-9222-D780E85A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050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rPr>
              <a:t>新增策略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B1AD40-E465-4D3F-A70A-242926F9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38450"/>
            <a:ext cx="266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读取 train / dev / demo 中已标注的 pronoun 与 antecedent，并入运行时词表。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EFB9DF-0D72-4485-8838-CC2F7910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909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不读取 test.json，避免评估数据泄漏。</a:t>
            </a:r>
          </a:p>
        </p:txBody>
      </p:sp>
    </p:spTree>
    <p:extLst>
      <p:ext uri="{BB962C8B-B14F-4D97-AF65-F5344CB8AC3E}">
        <p14:creationId xmlns:p14="http://schemas.microsoft.com/office/powerpoint/2010/main" val="5650299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B5BDBD-E5DA-497A-BFF0-DB91E565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BCA77-90E2-471E-9F42-E53F8ECC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0A22A-87E3-484F-9190-137F1DB9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76487-8CF7-49B8-A255-FFCBD2E8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D9B38-0127-42E0-BA0D-30DC9981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BEBE2-9E4F-497E-8294-07804632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62A87-6B30-4A38-A51A-CF15A7ED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RULE ENGINE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5D6FE-4A9D-482F-895E-DA2028FA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候选先行词由多类证据共同打分，结果可解释。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C79A6-82B9-4ABE-A9EA-573E77EA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9D8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4FFE3-7C6C-4FE6-B484-6D86F144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final_score = distance + position + type + gender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F1A2D-ECE7-4C79-8191-717B651A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31AEB-A947-426D-9840-E208CE51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C662A3-3FC0-481C-8C18-63E7DB7D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距离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137B2-4AFB-4E47-977C-F9F2E217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候选离代词越近越高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8A8E5-E786-4BDF-B3B9-A590F852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CA5B6A-09BC-4E95-BFC2-053C6C1E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15D047-D91F-4AED-8F63-1B4C9E3B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623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C1B274-382E-4AFB-BCBB-A9AB4A91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052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候选通常在代词之前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DB4113-CFED-4C35-AE9E-8D225B9A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6E3598-F8C6-402A-A591-6D9D3493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F2CC18-7A52-4E01-80F6-A001BF0C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623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rPr>
              <a:t>类型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2AE595-BBED-4D6E-9A35-74C770E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052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人称匹配 PERSON；它匹配 OBJECT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390254-2625-4885-B31F-CA98CDC5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55896B-A765-4C59-B019-3169178B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289486-9866-4DCA-B505-459EA192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623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性别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E079C9-BEE2-4BC1-ACB1-99825A0C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052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他/她与姓名性别线索匹配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28BA84-1ED7-4F6C-8185-BF039D73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页面展示每个候选实体的得分和理由，方便报告里的错误分析。</a:t>
            </a:r>
          </a:p>
        </p:txBody>
      </p:sp>
    </p:spTree>
    <p:extLst>
      <p:ext uri="{BB962C8B-B14F-4D97-AF65-F5344CB8AC3E}">
        <p14:creationId xmlns:p14="http://schemas.microsoft.com/office/powerpoint/2010/main" val="4176569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A29729-9948-4EC8-99C3-AAF4B08C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40E19-17F7-4AA1-9F51-DB543030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2904A-DB41-4C0C-885D-4DA5706C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4D412-34BC-41D6-9070-248DDF21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D97DC-156A-43DB-B6FD-082CEDB1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AECC8-B25C-452B-B0F0-0610065B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9733C-0CC3-457C-9AB6-31D9BA75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UPDATES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77DDB-59A2-40DF-BF2F-565951BE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这一版从“能跑”推进到“更像真实系统”。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879E0-B7AC-436D-8DE5-0B7149F2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4762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7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57E90-67DD-4392-85EF-CB605A51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A7571-EF77-4E80-BF4E-B6681E2D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81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rPr>
              <a:t>弱监督词表增强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4A11C5-AFF2-4B1E-BE92-6C53761F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从 train/dev/demo 标注中收集 pronoun 和 antecedent，补充运行时词表。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475FD0-0CE5-41F2-8AE2-F3685C35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90700"/>
            <a:ext cx="4762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08FA92-01C9-46E6-9DB6-CC1C7A4B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9070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502E6C-099E-423B-BBA8-78DEBB19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81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陌生人名识别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D8FACA-3FD9-476C-B046-222B14A8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622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常见中文姓氏 + 动词截断，解决“马斯克整”“马斯克替”等过长匹配。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467B46-B70A-4C0C-9E5F-2C2402CB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4762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E548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409638-9D59-4BD4-88CE-A23000BA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3AD61E-9E0D-4CA9-B4F2-65A4895E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歧义检测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D2F2E7-BC7D-46F0-ADF7-B01621EF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候选分数接近时标记 ambiguous，改写器跳过自动替换。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ADEA4F-C66F-4397-98B0-1DBFFF61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9950"/>
            <a:ext cx="4762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079477-10D9-42E4-844D-B8D7E190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995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0380BA-B199-41B5-890B-03297FEC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004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角色规则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FA507D-63E8-4B5B-BEF0-BBB65E1B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8145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A 替/帮/为 B 做事：主语代词指 A，介词后代词指 B。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7D4C01-E3AF-483F-9EF2-32E15D1B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530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修改集中在 mention_extractor.py / resolver.py / rewriter.py / app.py。</a:t>
            </a:r>
          </a:p>
        </p:txBody>
      </p:sp>
    </p:spTree>
    <p:extLst>
      <p:ext uri="{BB962C8B-B14F-4D97-AF65-F5344CB8AC3E}">
        <p14:creationId xmlns:p14="http://schemas.microsoft.com/office/powerpoint/2010/main" val="9655155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9C9F34-7D3E-43C7-9DB7-9A388183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AB527-D057-4F8C-9492-4CCC3C1E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08A03-5CAC-4F7E-9F5F-86CC22EC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AD062B-64E2-4023-9B2C-786F0440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C2FFB-B4F2-4ACE-A86F-627BD64A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40BC3-9E4B-44AF-90F1-CADF2C2B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D22E0-CBA3-41D1-B1F4-324064EE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AMBIGUITY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5E087-19C6-455E-80DC-9F5432E3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系统会区分“可解析线索”和“真实歧义”。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17EAF-55EA-4466-A92E-9B6C538B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953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7"/>
          </a:solidFill>
          <a:ln xmlns:a="http://schemas.openxmlformats.org/drawingml/2006/main" w="9525">
            <a:solidFill>
              <a:srgbClr val="B7E4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0D42F-D293-4812-9278-972E3CE2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574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rPr>
              <a:t>可解析：替/帮/为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8CE62-C418-476B-9893-EA4E40EB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235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82235"/>
                </a:solidFill>
                <a:latin typeface="Aptos Mono"/>
                <a:ea typeface="Aptos Mono"/>
                <a:cs typeface="Aptos Mono"/>
              </a:rPr>
              <a:t>马斯克替马云整理了书，</a:t>
            </a:r>
          </a:p>
          <a:p xmlns:a="http://schemas.openxmlformats.org/drawingml/2006/main">
            <a:pPr algn="l">
              <a:defRPr sz="1425" b="0">
                <a:solidFill>
                  <a:srgbClr val="182235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82235"/>
                </a:solidFill>
                <a:latin typeface="Aptos Mono"/>
                <a:ea typeface="Aptos Mono"/>
                <a:cs typeface="Aptos Mono"/>
              </a:rPr>
              <a:t>他准备替他再次确认它。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4B0F1-0A63-419F-BDE3-961FF9A1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390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rPr>
              <a:t>=&gt; 马斯克准备替马云再次确认书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1F2D0-A1E3-412D-89FD-D774B900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953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F3B8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CCD7B1-D7D1-4666-9557-EBA0AAE0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574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保留歧义：他对他说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B2BC2-89FC-41AF-B5C1-416EACFF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235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82235"/>
                </a:solidFill>
                <a:latin typeface="Aptos Mono"/>
                <a:ea typeface="Aptos Mono"/>
                <a:cs typeface="Aptos Mono"/>
              </a:rPr>
              <a:t>马云会见了马斯克，</a:t>
            </a:r>
          </a:p>
          <a:p xmlns:a="http://schemas.openxmlformats.org/drawingml/2006/main">
            <a:pPr algn="l">
              <a:defRPr sz="1425" b="0">
                <a:solidFill>
                  <a:srgbClr val="182235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82235"/>
                </a:solidFill>
                <a:latin typeface="Aptos Mono"/>
                <a:ea typeface="Aptos Mono"/>
                <a:cs typeface="Aptos Mono"/>
              </a:rPr>
              <a:t>他对他说了句玩笑话。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5C3C14-7EAE-492D-A139-938CF8EC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=&gt; 候选接近，提示人工确认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492931-2BE3-4C57-A84E-2565FE8A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9BBD20-6EC8-4060-AA18-400E3478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101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候选分数接近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EFC29C-63F8-4D25-B85B-DCA17FC7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714875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657468-2D81-49DA-857E-DAB1BE6B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29150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B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A51D34-D808-43B7-B0A1-6164A505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196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73038D-D2B6-4BE7-98BC-ED2ADE76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6101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标记 ambiguous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3F2C7B-7984-4F49-9EA7-8ECF2559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14875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77BD65-95C1-4915-88F3-C7A89DF6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29150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B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749688-FAE5-46C7-8059-4FDC4B49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DFF3C2-CB75-4FD5-A319-8FE7582E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101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rPr>
              <a:t>跳过自动改写</a:t>
            </a:r>
          </a:p>
        </p:txBody>
      </p:sp>
    </p:spTree>
    <p:extLst>
      <p:ext uri="{BB962C8B-B14F-4D97-AF65-F5344CB8AC3E}">
        <p14:creationId xmlns:p14="http://schemas.microsoft.com/office/powerpoint/2010/main" val="55923430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F9AE6F-1BCA-4EFD-894F-3B75DFF9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2B0E7-1781-44F1-BBAD-B68DC2F0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ADCE4-3B02-471A-85FF-8A7C3A01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59774-EA7E-45B1-8A40-6095D204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6CDE9-DEC7-4E53-B38F-2987BECB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A7105-A580-4637-B5F8-C049C495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71A6A-C067-4A78-9837-AFFC7290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ABLATION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A17D5-63C3-4B6D-A2F8-91BBA552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消融实验说明：类型规则和距离规则承担主要判断力。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2D6506-DD0D-42AE-9B8E-01E72347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test 数据集 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18671-7777-40CC-8A01-36FA25E1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完整规则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0042C-F395-4602-B814-30088F73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431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7"/>
          </a:solidFill>
          <a:ln xmlns:a="http://schemas.openxmlformats.org/drawingml/2006/main" w="9525">
            <a:solidFill>
              <a:srgbClr val="E8EEF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9F199-AF10-48F5-921E-67C8F2C4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431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EB0E5-B87D-4AA2-B86F-4641542E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14575"/>
            <a:ext cx="819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rPr>
              <a:t>1.0000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AECD7-40BE-4FF8-94F5-E6A36EA7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去掉距离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5AAB56-6632-4C96-85E9-8E51987C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622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7"/>
          </a:solidFill>
          <a:ln xmlns:a="http://schemas.openxmlformats.org/drawingml/2006/main" w="9525">
            <a:solidFill>
              <a:srgbClr val="E8EEF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25AA9F-F047-4B9C-9A6C-7ECE8745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62250"/>
            <a:ext cx="293359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D521A7-6C84-4E7B-A19D-95230AFC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33675"/>
            <a:ext cx="819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0.9333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C3B77-9445-4045-BDD8-F2A8C834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去掉位置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BE18B0-4DAD-47C9-95A7-877D8060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813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7"/>
          </a:solidFill>
          <a:ln xmlns:a="http://schemas.openxmlformats.org/drawingml/2006/main" w="9525">
            <a:solidFill>
              <a:srgbClr val="E8EE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BB783A-9B8A-4FE2-8C83-707FDFC8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81350"/>
            <a:ext cx="258438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F1C2E8-44C8-46B5-8BCB-F2E9B3B6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152775"/>
            <a:ext cx="819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0.8222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934BE9-DE11-45E8-A354-9C61D7DE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去掉类型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713DEC-8E7E-4C66-84F5-6CE9C5D6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004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7"/>
          </a:solidFill>
          <a:ln xmlns:a="http://schemas.openxmlformats.org/drawingml/2006/main" w="9525">
            <a:solidFill>
              <a:srgbClr val="E8EE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963DCF-DD31-48ED-A07F-A12B7216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00450"/>
            <a:ext cx="153673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930917-B159-4ED0-B5C2-03A43E38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571875"/>
            <a:ext cx="819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0.4889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A58117-DB7E-4EFF-81F4-50E299D9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097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real_corpus 数据集 F1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01EB53-0B89-4B9D-90B8-85151D52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241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完整规则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BE31C8-5D2C-4012-BA8B-998EB87D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431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7"/>
          </a:solidFill>
          <a:ln xmlns:a="http://schemas.openxmlformats.org/drawingml/2006/main" w="9525">
            <a:solidFill>
              <a:srgbClr val="E8EEF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2F59E8-6B4A-498E-B6CC-6FF03857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43150"/>
            <a:ext cx="2550986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466871-FD15-46CA-A587-EF533405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14575"/>
            <a:ext cx="819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rPr>
              <a:t>0.9565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06965D-C72D-4D7D-8BCB-B946CB37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去掉距离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AEAD6B-18DA-4865-B68D-A20A977C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622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7"/>
          </a:solidFill>
          <a:ln xmlns:a="http://schemas.openxmlformats.org/drawingml/2006/main" w="9525">
            <a:solidFill>
              <a:srgbClr val="E8EEF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49095D-5A59-4FE3-90E5-008D3AD1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62250"/>
            <a:ext cx="185543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59A0F6-AABB-4830-839C-4E75034F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733675"/>
            <a:ext cx="819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0.6957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FEF963-F455-458B-803D-85E9E848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623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去掉位置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B94C45-47AE-4696-BD9D-37E679F3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813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7"/>
          </a:solidFill>
          <a:ln xmlns:a="http://schemas.openxmlformats.org/drawingml/2006/main" w="9525">
            <a:solidFill>
              <a:srgbClr val="E8EEF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CD0DF3-0467-451D-A0B8-FF2AAF94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81350"/>
            <a:ext cx="249311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B5FC12-C2EF-40CA-95AE-E02A3BA5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52775"/>
            <a:ext cx="819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0.9348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0BC639-AB16-43D8-9AEC-07CF0AD0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814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去掉类型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092259-2919-4D12-9862-2F886651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004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7"/>
          </a:solidFill>
          <a:ln xmlns:a="http://schemas.openxmlformats.org/drawingml/2006/main" w="9525">
            <a:solidFill>
              <a:srgbClr val="E8EEF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297650-D2BA-4074-A993-5814D627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00450"/>
            <a:ext cx="226108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0D1954-390E-4659-9D7A-2032E5DC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71875"/>
            <a:ext cx="819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0.8478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7621B0-EA53-48CC-9474-350E1AFA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9D8F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5E892C-92FB-4BF3-B21D-8D171E76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054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结论：构造测试集上“类型规则”最关键；真实语料风格数据中“距离规则”下降最大，说明真实文本更依赖局部上下文。</a:t>
            </a:r>
          </a:p>
        </p:txBody>
      </p:sp>
    </p:spTree>
    <p:extLst>
      <p:ext uri="{BB962C8B-B14F-4D97-AF65-F5344CB8AC3E}">
        <p14:creationId xmlns:p14="http://schemas.microsoft.com/office/powerpoint/2010/main" val="190435630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A2D89D-8C2D-4DFE-A578-BC5A2B21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4C2F2-C59C-4893-A491-6BB767F4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A5C29-CA50-4C69-8134-040C6758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05BE7-0AC2-45FC-98EB-17B362B8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BBEE7-8343-490A-8E2B-F23C8024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EF5AB-84FE-4382-91C8-6C61F3B6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D0D0C-D493-4028-80A0-48B77975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DEMO &amp; DEPLOY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A33FE-5DA7-44C4-B6DD-B69F6F6F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项目交付覆盖演示、评估与部署。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B32F0-D364-4100-BA98-FB1C9D3B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228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55C73-A010-4C48-BC55-6C8706FD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06652-38D4-45B0-9519-D000835F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rPr>
              <a:t>单文本分析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9E62B-1F1C-487E-86B3-BE033308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1981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高亮原文</a:t>
            </a:r>
          </a:p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候选实体</a:t>
            </a:r>
          </a:p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改写结果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73347D-9FA5-4A2C-B632-5032B728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43100"/>
            <a:ext cx="228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E3D6A-71C1-4059-9C97-68C59E9C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431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0D9B9-1138-486D-AE08-3E4E2E56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7645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数据集评估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73AECB-9661-4E63-AD6E-2C646759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19350"/>
            <a:ext cx="1981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Accuracy / Precision / Recall / F1</a:t>
            </a:r>
          </a:p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错误样本表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C829E-B2BB-4494-947F-495D130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228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A0AC6F-0F2E-4C72-B30D-9F2E1357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6C2C45-6622-45CE-B75D-A14F74D1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7645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消融实验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479B66-F44A-408E-A636-4B3C51B5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19350"/>
            <a:ext cx="1981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比较不同规则配置</a:t>
            </a:r>
          </a:p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支持报告分析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4AA10D-F23C-416A-AED5-A66DF5A8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43100"/>
            <a:ext cx="228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240F9F-566C-454B-A606-ECF9A783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431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D6A80D-1994-42F4-8934-6310111E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7645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数据标注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AE2021-6F42-4436-A54B-7CDACF64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19350"/>
            <a:ext cx="1981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绑定 pronoun 与 antecedent</a:t>
            </a:r>
          </a:p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导出 JSON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363CAB-FAA6-4B61-89E1-304E2F46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CA55A0-D8F8-4814-A3B5-A532DD48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529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Streamlit app.py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D6DB88-2063-494F-89EA-26DC97BB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57725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7FE3E1-3962-4B9C-B4B9-257EA5DA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72000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B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771FA9-56C1-440D-99DE-928B733A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624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59BE57-17ED-43DA-B843-AB53641A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529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云服务器 + Nginx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72D35C-7704-43B2-8F93-C9EA83C2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57725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96CA5B-0FEC-4C65-900E-88CD20C3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72000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B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6B9540-32F7-4C88-9234-C20000B8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624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7"/>
          </a:solidFill>
          <a:ln xmlns:a="http://schemas.openxmlformats.org/drawingml/2006/main" w="9525">
            <a:solidFill>
              <a:srgbClr val="B7E4C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6AD553-6BF9-45A9-8809-239D9F07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529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rPr>
              <a:t>域名 / HTTPS 展示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19AC3E-4AA8-492A-A48B-01EEA9BC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10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部署流程已整理在 DEPLOYMENT.md。</a:t>
            </a:r>
          </a:p>
        </p:txBody>
      </p:sp>
    </p:spTree>
    <p:extLst>
      <p:ext uri="{BB962C8B-B14F-4D97-AF65-F5344CB8AC3E}">
        <p14:creationId xmlns:p14="http://schemas.microsoft.com/office/powerpoint/2010/main" val="160858652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8A5DDF-71A8-4B0D-BCEA-029A988F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8C994-902A-4CC9-A1CC-86E123BE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C02C1-57D4-405C-85A9-277A0939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24411-FCAB-4D88-9D92-06B08386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DD8BE-AE44-48ED-87A5-2C8A04AA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33E24-D13B-44C0-96D1-F163FBF0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D5669-4201-4F17-90A9-AE83A33F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NEXT 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F6766-AAE9-4385-AF11-E2B868CC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下一步接入 BERT 语义匹配，同时保留规则可解释性。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E9900-E6D2-447A-9DD6-9F5ADFF1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72F860-EDFA-4DBD-9FB4-23ECAA06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rPr>
              <a:t>规则分数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9EC8B-6C59-4B7B-BE91-A031F6B4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距离 / 类型 / 角色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A78559-FC03-489F-BF43-C70EDF7D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14625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E18E11-BEEC-4038-A494-B80DDF54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28900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B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CE2A6C-0906-4FFE-8497-DE4B0354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431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29370A-0603-4EF5-9C96-4B8F3AC5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336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BERT 语义分数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B6662-2BD9-42F9-A972-71654AE3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194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上下文向量相似度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C86EE-F733-44B8-BB76-8608AF97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14625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255607-0298-4000-B9E7-C3D31ABF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28900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B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E6BBFB-3CB5-4E51-90CE-FE9BDB76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7"/>
          </a:solidFill>
          <a:ln xmlns:a="http://schemas.openxmlformats.org/drawingml/2006/main" w="9525">
            <a:solidFill>
              <a:srgbClr val="B7E4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98AF7B-96B3-4EC1-B558-DCB645BB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336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9F6E"/>
                </a:solidFill>
                <a:latin typeface="Microsoft YaHei"/>
                <a:ea typeface="Microsoft YaHei"/>
                <a:cs typeface="Microsoft YaHei"/>
              </a:rPr>
              <a:t>融合决策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DC2867-14A9-4433-8FA7-98033153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194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0.7 * rule + 0.3 * semantic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EE9C11-23EA-46C3-8F38-5F88B6DB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95750"/>
            <a:ext cx="8572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9D8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F4A5D6-9BEB-41A0-A516-0CEF272D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3434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课程展示价值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E5FBA3-6EC4-4609-8D80-E47E0F03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43400"/>
            <a:ext cx="581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基础功能完整，实验分析可复现；进阶方向明确，能够过渡到问答、摘要、信息抽取等下游任务。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240280-DD82-4C1D-BF5D-D4EA6F2D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46735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项目定位：一个可解释 baseline + 可扩展语义模块的中文指代消解原型。</a:t>
            </a:r>
          </a:p>
        </p:txBody>
      </p:sp>
    </p:spTree>
    <p:extLst>
      <p:ext uri="{BB962C8B-B14F-4D97-AF65-F5344CB8AC3E}">
        <p14:creationId xmlns:p14="http://schemas.microsoft.com/office/powerpoint/2010/main" val="15172059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2026-06-18T03:14:39.1450000Z</dcterms:created>
  <dcterms:modified xsi:type="dcterms:W3CDTF">2026-06-18T03:14:39.1450000Z</dcterms:modified>
</coreProperties>
</file>